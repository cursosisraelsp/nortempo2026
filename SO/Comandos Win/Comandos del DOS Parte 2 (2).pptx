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318" r:id="rId3"/>
    <p:sldId id="322" r:id="rId4"/>
    <p:sldId id="323" r:id="rId5"/>
    <p:sldId id="324" r:id="rId6"/>
    <p:sldId id="325" r:id="rId7"/>
    <p:sldId id="326" r:id="rId8"/>
    <p:sldId id="260" r:id="rId9"/>
    <p:sldId id="261" r:id="rId10"/>
    <p:sldId id="327" r:id="rId11"/>
    <p:sldId id="328" r:id="rId12"/>
    <p:sldId id="262" r:id="rId13"/>
    <p:sldId id="263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8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47"/>
    <p:restoredTop sz="94665"/>
  </p:normalViewPr>
  <p:slideViewPr>
    <p:cSldViewPr snapToGrid="0" snapToObjects="1">
      <p:cViewPr varScale="1">
        <p:scale>
          <a:sx n="120" d="100"/>
          <a:sy n="120" d="100"/>
        </p:scale>
        <p:origin x="1472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FCD98D-45F1-C34C-BD3A-96F4CAC71195}" type="datetimeFigureOut">
              <a:rPr lang="es-ES_tradnl" smtClean="0"/>
              <a:t>9/12/25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175FA-C4C8-A846-BAF6-DBB1D529CA9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10760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  <a:defRPr sz="4400">
                <a:solidFill>
                  <a:srgbClr val="282828"/>
                </a:solidFill>
              </a:defRPr>
            </a:pPr>
            <a:r>
              <a:rPr lang="es-ES_tradnl" sz="2700" dirty="0">
                <a:solidFill>
                  <a:schemeClr val="tx2"/>
                </a:solidFill>
              </a:rPr>
              <a:t>MS‑DOS Básico, CMD y PowerShell (Windows 11)</a:t>
            </a:r>
          </a:p>
        </p:txBody>
      </p:sp>
      <p:pic>
        <p:nvPicPr>
          <p:cNvPr id="6" name="Graphic 5" descr="Ordenador">
            <a:extLst>
              <a:ext uri="{FF2B5EF4-FFF2-40B4-BE49-F238E27FC236}">
                <a16:creationId xmlns:a16="http://schemas.microsoft.com/office/drawing/2014/main" id="{FC88AE6B-0568-210A-B53A-A703C2FA9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9FCDC-94F9-71BB-5A27-B4359367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9B592D-DA65-A8FE-BB2F-4494F67C3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ROBOCOPY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76EC0-34D6-0CFE-A215-073AD86A9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501" y="159488"/>
            <a:ext cx="5751095" cy="6688373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>
                <a:solidFill>
                  <a:srgbClr val="464646"/>
                </a:solidFill>
                <a:latin typeface="Consolas"/>
              </a:rPr>
              <a:t>ROBOCOPY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8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¿Qué hace este comando?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ROBOCOPY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 (</a:t>
            </a:r>
            <a:r>
              <a:rPr lang="es-ES_tradnl" sz="2000" dirty="0" err="1">
                <a:solidFill>
                  <a:srgbClr val="464646"/>
                </a:solidFill>
                <a:latin typeface="Consolas"/>
              </a:rPr>
              <a:t>Robust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 File </a:t>
            </a:r>
            <a:r>
              <a:rPr lang="es-ES_tradnl" sz="2000" dirty="0" err="1">
                <a:solidFill>
                  <a:srgbClr val="464646"/>
                </a:solidFill>
                <a:latin typeface="Consolas"/>
              </a:rPr>
              <a:t>Copy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) es una utilidad avanzada para copiar directorios completos, realizar copias incrementales, crear espejos exactos y transferir grandes cantidades de datos de forma tolerante a fallos.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ROBOCOPY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origen destino [opciones]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9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Ejemplos prácticos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nsolas"/>
              </a:rPr>
              <a:t>Copiar una carpeta completa: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ROBOCOPY C:\Datos D:\</a:t>
            </a:r>
            <a:r>
              <a:rPr lang="es-ES_tradnl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Backup</a:t>
            </a: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/E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nsolas"/>
              </a:rPr>
              <a:t>Crear un espejo exacto: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ROBOCOPY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C:\Datos D:\</a:t>
            </a:r>
            <a:r>
              <a:rPr lang="es-ES_tradnl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Backup</a:t>
            </a: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/MIR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nsolas"/>
              </a:rPr>
              <a:t>Copiar solo archivos modificados: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ROBOCOPY C:\Datos D:\</a:t>
            </a:r>
            <a:r>
              <a:rPr lang="es-ES_tradnl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Backup</a:t>
            </a:r>
            <a:r>
              <a:rPr lang="es-ES_tradnl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/XO</a:t>
            </a:r>
          </a:p>
        </p:txBody>
      </p:sp>
    </p:spTree>
    <p:extLst>
      <p:ext uri="{BB962C8B-B14F-4D97-AF65-F5344CB8AC3E}">
        <p14:creationId xmlns:p14="http://schemas.microsoft.com/office/powerpoint/2010/main" val="4023287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104B1-A20E-02B5-AD64-67D492E44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9E6C09-207F-E2E8-CBD9-7DBAB3E95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92469A-915B-384C-C01E-59B77BF3C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EC6DD6-45DC-D751-7F29-FC4ECD7C6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11DFE3-F9C1-BBBC-D4B3-54DC313A3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CF6693-2235-EAB7-917F-BB200AFD3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9273A5B-9A9B-C965-F9D2-1C8943ECD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91A89C-AAE7-A8E8-B441-FF11E931B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DE486-F023-6757-45AD-76536DAFE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ROBOCOPY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4CC87-DC83-C795-8811-A2F7D3C8A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4463" y="96253"/>
            <a:ext cx="5751095" cy="6751609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 guiado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nsolas"/>
              </a:rPr>
              <a:t>Realiza una copia completa de una carpeta de prácticas a otra unidad usando /E. Verifica que las subcarpetas se han copiado correctamente.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🧾 </a:t>
            </a:r>
            <a:r>
              <a:rPr lang="es-ES_tradnl" sz="2800" dirty="0">
                <a:solidFill>
                  <a:srgbClr val="464646"/>
                </a:solidFill>
                <a:latin typeface="Consolas"/>
              </a:rPr>
              <a:t>Ejercicios de profundización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nsolas"/>
              </a:rPr>
              <a:t>Realiza un espejo con /MIR y analiza qué ocurre si eliminas archivos en el origen.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nsolas"/>
              </a:rPr>
              <a:t>Prueba /R:0 /W:0 para evitar reintentos y observa el rendimiento.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000" dirty="0">
                <a:solidFill>
                  <a:srgbClr val="464646"/>
                </a:solidFill>
                <a:latin typeface="Consolas"/>
              </a:rPr>
              <a:t>Genera un log detallado con /</a:t>
            </a:r>
            <a:r>
              <a:rPr lang="es-ES_tradnl" sz="2000" dirty="0" err="1">
                <a:solidFill>
                  <a:srgbClr val="464646"/>
                </a:solidFill>
                <a:latin typeface="Consolas"/>
              </a:rPr>
              <a:t>LOG:registro.txt</a:t>
            </a:r>
            <a:r>
              <a:rPr lang="es-ES_tradnl" sz="20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800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57862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BA16D-992C-4CF2-26EE-4E0D6F86E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F5C1FF8-0F31-A365-547A-515BA4A13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5AE985A-1712-7533-1214-71B5309E1A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1363A6-4BD5-AFAB-5FE0-D2C9E4388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3785B4-7389-5C58-39BA-39EDF84BB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653032-3624-FA10-DDC6-6421DD9D4B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7DF340D-F04D-4F27-C3E7-FC1EC80A1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CD5C7C-E040-E725-3998-2D054BF22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77ED5A-7CB9-0885-AC4D-9C8F038CD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XCOPY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CA1CD-5B9D-B691-7659-922FAAD4C1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491" y="179765"/>
            <a:ext cx="5751095" cy="668837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3000" dirty="0">
                <a:solidFill>
                  <a:srgbClr val="464646"/>
                </a:solidFill>
                <a:latin typeface="Consolas"/>
              </a:rPr>
              <a:t>XCOPY</a:t>
            </a:r>
          </a:p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3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dirty="0"/>
              <a:t>🖥 </a:t>
            </a:r>
            <a:r>
              <a:rPr lang="en-US" sz="3100" dirty="0">
                <a:solidFill>
                  <a:srgbClr val="464646"/>
                </a:solidFill>
                <a:latin typeface="Consolas"/>
              </a:rPr>
              <a:t>¿</a:t>
            </a:r>
            <a:r>
              <a:rPr lang="en-US" sz="3100" dirty="0" err="1">
                <a:solidFill>
                  <a:srgbClr val="464646"/>
                </a:solidFill>
                <a:latin typeface="Consolas"/>
              </a:rPr>
              <a:t>Qué</a:t>
            </a:r>
            <a:r>
              <a:rPr lang="en-US" sz="31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100" dirty="0" err="1">
                <a:solidFill>
                  <a:srgbClr val="464646"/>
                </a:solidFill>
                <a:latin typeface="Consolas"/>
              </a:rPr>
              <a:t>hace</a:t>
            </a:r>
            <a:r>
              <a:rPr lang="en-US" sz="31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100" dirty="0" err="1">
                <a:solidFill>
                  <a:srgbClr val="464646"/>
                </a:solidFill>
                <a:latin typeface="Consolas"/>
              </a:rPr>
              <a:t>este</a:t>
            </a:r>
            <a:r>
              <a:rPr lang="en-US" sz="31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100" dirty="0" err="1">
                <a:solidFill>
                  <a:srgbClr val="464646"/>
                </a:solidFill>
                <a:latin typeface="Consolas"/>
              </a:rPr>
              <a:t>comando</a:t>
            </a:r>
            <a:r>
              <a:rPr lang="en-US" sz="3100" dirty="0">
                <a:solidFill>
                  <a:srgbClr val="464646"/>
                </a:solidFill>
                <a:latin typeface="Consolas"/>
              </a:rPr>
              <a:t>?</a:t>
            </a:r>
            <a:endParaRPr lang="es-ES" sz="31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XCOPY</a:t>
            </a:r>
            <a:r>
              <a:rPr lang="en-US" dirty="0"/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permite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copiar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directorios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más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control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que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COPY,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incluyendo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subcarpetas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,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filtros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por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fecha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copia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condicional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buNone/>
            </a:pP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dirty="0"/>
              <a:t>🧾 </a:t>
            </a:r>
            <a:r>
              <a:rPr lang="en-US" sz="3100" dirty="0" err="1">
                <a:solidFill>
                  <a:srgbClr val="464646"/>
                </a:solidFill>
                <a:latin typeface="Consolas"/>
              </a:rPr>
              <a:t>Sintaxis</a:t>
            </a:r>
            <a:r>
              <a:rPr lang="en-US" sz="31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100" dirty="0" err="1">
                <a:solidFill>
                  <a:srgbClr val="464646"/>
                </a:solidFill>
                <a:latin typeface="Consolas"/>
              </a:rPr>
              <a:t>básica</a:t>
            </a:r>
            <a:endParaRPr lang="es-ES" sz="31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XCOPY </a:t>
            </a:r>
            <a:r>
              <a:rPr lang="en-US" sz="22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origen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destino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</a:t>
            </a:r>
            <a:r>
              <a:rPr lang="en-US" sz="22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sz="22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87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6C572A-A62F-6DB4-3016-B497A3767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884D0B-3476-0C2E-E6EF-954C25F3F6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24D98A-EDA9-2ECA-408D-5160E01F69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AD37DA-B5C4-D924-09DC-ECF0AE59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8B0008-481D-D46D-FACF-BA923B697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029048-847F-D825-5E6A-9C4CE6B51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18B9C9B-655F-8744-3A41-1827F6345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2D6115-9724-8ADA-7B54-13E3673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C9B79-4A61-C04A-E118-922D8D005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XCOPY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326A-57F5-4278-34B1-DC1BB8224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491" y="137729"/>
            <a:ext cx="5932223" cy="685800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dirty="0"/>
              <a:t>🖥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Ejemplos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prácticos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r>
              <a:rPr lang="en-US" sz="2200" dirty="0" err="1">
                <a:solidFill>
                  <a:srgbClr val="464646"/>
                </a:solidFill>
                <a:latin typeface="Consolas"/>
              </a:rPr>
              <a:t>Copiar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subdirectorios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:  → 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XCOPY C:\Datos D:\Backup /E</a:t>
            </a:r>
            <a:endParaRPr lang="es-ES" sz="22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 err="1">
                <a:solidFill>
                  <a:srgbClr val="464646"/>
                </a:solidFill>
                <a:latin typeface="Consolas"/>
              </a:rPr>
              <a:t>Copiar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solo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nuevos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:  → 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XCOPY C:\Datos D:\Backup /D</a:t>
            </a:r>
            <a:endParaRPr lang="es-ES" sz="22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200" dirty="0" err="1">
                <a:solidFill>
                  <a:srgbClr val="464646"/>
                </a:solidFill>
                <a:latin typeface="Consolas"/>
              </a:rPr>
              <a:t>Copiar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sin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pedir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confirmación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:  → 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XCOPY C:\Datos D:\Backup /Y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900" dirty="0">
                <a:solidFill>
                  <a:srgbClr val="464646"/>
                </a:solidFill>
                <a:latin typeface="Consolas"/>
              </a:rPr>
              <a:t>🧾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Ejercicio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guiado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nsolas"/>
              </a:rPr>
              <a:t>Copia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carpeta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prácticas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usando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/E y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revisa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estructura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resultante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buNone/>
            </a:pP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900" dirty="0">
                <a:solidFill>
                  <a:srgbClr val="464646"/>
                </a:solidFill>
                <a:latin typeface="Consolas"/>
              </a:rPr>
              <a:t>🧾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Ejercicios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profundización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uso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XCOPY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/D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frente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a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ROBOCOPY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copias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incrementales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nsolas"/>
              </a:rPr>
              <a:t>• Usa /T /E para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clonar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solo la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estructura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carpetas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endParaRPr lang="es-ES" sz="22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76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429FB-0A58-DDF6-2129-ED6E73C6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AFCB29-1D55-ACE4-61B8-183B7E44F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88E334-6112-66EC-05E7-034FD7C0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AFBDE-5AA6-52CB-4D52-791F09F6DD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D88447-B5BB-D2CE-2D26-FBDFD3A71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31A57E-4625-D4B5-463A-4FFF090B1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FA48A6A-3763-9F0A-AB09-2DCA03748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4DBF827-22FE-4013-2F3D-01A16BC1F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12F93-FFB2-0E46-4BA7-3C9B7EA67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REPLACE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472A2-CB24-324A-CD81-00EF62DD0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491" y="179765"/>
            <a:ext cx="5751095" cy="668837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3000" dirty="0">
                <a:solidFill>
                  <a:srgbClr val="464646"/>
                </a:solidFill>
                <a:latin typeface="Consolas"/>
              </a:rPr>
              <a:t>REPLACE</a:t>
            </a:r>
          </a:p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" sz="3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dirty="0"/>
              <a:t>🖥 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¿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Qué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hace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este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comando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?</a:t>
            </a:r>
            <a:endParaRPr lang="es-ES" sz="3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nsolas"/>
              </a:rPr>
              <a:t>REPLACE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sustituye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existentes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carpeta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destino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por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versiones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nuevas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provenientes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otra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carpeta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 Es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útil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entornos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actualización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</a:t>
            </a:r>
          </a:p>
          <a:p>
            <a:pPr marL="0" indent="0">
              <a:buNone/>
            </a:pP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dirty="0"/>
              <a:t>🧾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Sintaxis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básica</a:t>
            </a:r>
            <a:endParaRPr lang="es-ES" sz="3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REPLACE </a:t>
            </a:r>
            <a:r>
              <a:rPr lang="en-US" sz="22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archivos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destino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[/</a:t>
            </a:r>
            <a:r>
              <a:rPr lang="en-US" sz="22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sz="22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" sz="22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2427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6CBDA-6771-F984-0DAF-5A5E2BB06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80B784-2993-78B7-DBB4-34B68DD92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C3D850-7C46-A9D9-E07A-C399B3916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A16720-DD82-5C3F-0A05-5EADFF413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A8D548-64A3-ACDE-BA5B-55745D28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C6EE32-B704-31BE-5B2A-BEB1BA741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3B95560-BD44-9A98-2808-2610BECC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5DE0F3-52EF-122E-D501-AFBE2C220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62D40-399F-95B2-F55F-5F2D063F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REPLACE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AA91C-3CD1-4A3C-C23F-F007853A0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9491" y="179765"/>
            <a:ext cx="5751095" cy="668837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dirty="0"/>
              <a:t>🧾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Ejercicio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guiado</a:t>
            </a:r>
            <a:endParaRPr lang="es-ES" sz="3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nsolas"/>
              </a:rPr>
              <a:t>Crea dos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carpetas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reemplaza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carpeta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destino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usando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/U.</a:t>
            </a:r>
          </a:p>
          <a:p>
            <a:pPr marL="0" indent="0">
              <a:buNone/>
            </a:pP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dirty="0"/>
              <a:t>🧾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Ejercicios</a:t>
            </a:r>
            <a:r>
              <a:rPr lang="en-US" sz="3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3000" dirty="0" err="1">
                <a:solidFill>
                  <a:srgbClr val="464646"/>
                </a:solidFill>
                <a:latin typeface="Consolas"/>
              </a:rPr>
              <a:t>profundización</a:t>
            </a:r>
            <a:endParaRPr lang="es-ES" sz="3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comportamiento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REPLACE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XCOPY /D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2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Prueba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/A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agregar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 sin </a:t>
            </a:r>
            <a:r>
              <a:rPr lang="en-US" sz="2200" dirty="0" err="1">
                <a:solidFill>
                  <a:srgbClr val="464646"/>
                </a:solidFill>
                <a:latin typeface="Consolas"/>
              </a:rPr>
              <a:t>sobrescribir</a:t>
            </a:r>
            <a:r>
              <a:rPr lang="en-US" sz="22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2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" sz="22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1701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88368" y="252663"/>
            <a:ext cx="5847348" cy="647299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3000" dirty="0">
                <a:solidFill>
                  <a:srgbClr val="464646"/>
                </a:solidFill>
                <a:latin typeface="Consolas"/>
              </a:rPr>
              <a:t>COMP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4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/>
              <a:t>Compara</a:t>
            </a:r>
            <a:r>
              <a:rPr lang="en-US" sz="2000" dirty="0"/>
              <a:t> </a:t>
            </a:r>
            <a:r>
              <a:rPr lang="en-US" sz="2000" dirty="0" err="1"/>
              <a:t>archivos</a:t>
            </a:r>
            <a:r>
              <a:rPr lang="en-US" sz="2000" dirty="0"/>
              <a:t> byte a byte y </a:t>
            </a:r>
            <a:r>
              <a:rPr lang="en-US" sz="2000" dirty="0" err="1"/>
              <a:t>muestra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</a:t>
            </a:r>
            <a:r>
              <a:rPr lang="en-US" sz="2000" dirty="0" err="1"/>
              <a:t>existen</a:t>
            </a:r>
            <a:r>
              <a:rPr lang="en-US" sz="2000" dirty="0"/>
              <a:t> </a:t>
            </a:r>
            <a:r>
              <a:rPr lang="en-US" sz="2000" dirty="0" err="1"/>
              <a:t>diferencias</a:t>
            </a:r>
            <a:r>
              <a:rPr lang="en-US" sz="2000" dirty="0"/>
              <a:t> entre </a:t>
            </a:r>
            <a:r>
              <a:rPr lang="en-US" sz="2000" dirty="0" err="1"/>
              <a:t>ellos</a:t>
            </a:r>
            <a:r>
              <a:rPr lang="en-US" sz="2000" dirty="0"/>
              <a:t>.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6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COMP archivo1 archivo2 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_tradnl" sz="2800" dirty="0">
                <a:solidFill>
                  <a:srgbClr val="464646"/>
                </a:solidFill>
              </a:rPr>
              <a:t>💡 Ejemplos prácticos</a:t>
            </a: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Comparación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simple:  → 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a.txt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Ignorar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mayúsculas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a.txt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b.txt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/C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Comparación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binaria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 log1.bin log2.bin /D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9920AA-4E37-28E9-75E1-5F1E9FEB503E}"/>
              </a:ext>
            </a:extLst>
          </p:cNvPr>
          <p:cNvSpPr txBox="1">
            <a:spLocks/>
          </p:cNvSpPr>
          <p:nvPr/>
        </p:nvSpPr>
        <p:spPr>
          <a:xfrm>
            <a:off x="313668" y="1088821"/>
            <a:ext cx="2401025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COMP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61E7EDE-CB4A-402F-B0FB-8640C3589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2BBEB8-4077-499F-80FD-AA9827A8D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3796" y="608243"/>
            <a:ext cx="2535154" cy="5445075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2748" y="804681"/>
            <a:ext cx="5594684" cy="505469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Crea dos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texto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ligeramente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distintos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compáralos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600" dirty="0"/>
          </a:p>
          <a:p>
            <a:pPr>
              <a:lnSpc>
                <a:spcPct val="90000"/>
              </a:lnSpc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Genera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diferencias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binarios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observa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salida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carpetas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completas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/S.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B7728-0C26-4662-B285-85C645523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053319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C367AD-9838-470A-87EF-678609CC8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935205" y="3404998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CF1642-4E76-4223-A010-6334380A2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4236"/>
            <a:ext cx="914400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9B5289A-C2C8-4812-1B9F-9854EC19E66F}"/>
              </a:ext>
            </a:extLst>
          </p:cNvPr>
          <p:cNvSpPr txBox="1">
            <a:spLocks/>
          </p:cNvSpPr>
          <p:nvPr/>
        </p:nvSpPr>
        <p:spPr>
          <a:xfrm>
            <a:off x="469793" y="802185"/>
            <a:ext cx="2401025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 sz="3600">
                <a:solidFill>
                  <a:srgbClr val="323232"/>
                </a:solidFill>
              </a:defRPr>
            </a:pPr>
            <a:br>
              <a:rPr lang="es-ES_tradnl" sz="2700" dirty="0">
                <a:solidFill>
                  <a:srgbClr val="FFFFFF"/>
                </a:solidFill>
              </a:rPr>
            </a:br>
            <a:r>
              <a:rPr lang="es-ES_tradnl" sz="2700" dirty="0">
                <a:solidFill>
                  <a:srgbClr val="FFFFFF"/>
                </a:solidFill>
              </a:rPr>
              <a:t>Gestión avanzada de archivos y carpetas: COMP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1FA03-F03E-34CC-C8A1-9DAE3161E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5841697-0811-F922-D3E1-F23C8F5FDC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7DB9181-9295-27DD-06A9-447E37434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0B0ABD-825F-3BB1-381C-74205A10D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29D957-94A4-2247-13C3-C7216744D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53E6FC-7619-F1BC-4213-3DF9A1805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22BCEB2-D6C4-198B-2AA3-28500B1A0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38837A-2353-0708-D9FC-FF2B1F5AE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806896-CF2B-3C5A-E3F0-709D0CF5C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5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Gestión avanzada de archivos y carpetas: FC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F8F05-E99D-825F-B2BE-5E80546E1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368" y="252663"/>
            <a:ext cx="5847348" cy="6472990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11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3000" dirty="0">
                <a:solidFill>
                  <a:srgbClr val="464646"/>
                </a:solidFill>
                <a:latin typeface="Consolas"/>
              </a:rPr>
              <a:t>FC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4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Compara</a:t>
            </a:r>
            <a:r>
              <a:rPr lang="en-US" sz="2600" dirty="0"/>
              <a:t> </a:t>
            </a:r>
            <a:r>
              <a:rPr lang="en-US" sz="2600" dirty="0" err="1"/>
              <a:t>archivos</a:t>
            </a:r>
            <a:r>
              <a:rPr lang="en-US" sz="2600" dirty="0"/>
              <a:t> de </a:t>
            </a:r>
            <a:r>
              <a:rPr lang="en-US" sz="2600" dirty="0" err="1"/>
              <a:t>texto</a:t>
            </a:r>
            <a:r>
              <a:rPr lang="en-US" sz="2600" dirty="0"/>
              <a:t> o </a:t>
            </a:r>
            <a:r>
              <a:rPr lang="en-US" sz="2600" dirty="0" err="1"/>
              <a:t>binarios</a:t>
            </a:r>
            <a:r>
              <a:rPr lang="en-US" sz="2600" dirty="0"/>
              <a:t> </a:t>
            </a:r>
            <a:r>
              <a:rPr lang="en-US" sz="2600" dirty="0" err="1"/>
              <a:t>mostrando</a:t>
            </a:r>
            <a:r>
              <a:rPr lang="en-US" sz="2600" dirty="0"/>
              <a:t> </a:t>
            </a:r>
            <a:r>
              <a:rPr lang="en-US" sz="2600" dirty="0" err="1"/>
              <a:t>diferencias</a:t>
            </a:r>
            <a:r>
              <a:rPr lang="en-US" sz="2600" dirty="0"/>
              <a:t> </a:t>
            </a:r>
            <a:r>
              <a:rPr lang="en-US" sz="2600" dirty="0" err="1"/>
              <a:t>línea</a:t>
            </a:r>
            <a:r>
              <a:rPr lang="en-US" sz="2600" dirty="0"/>
              <a:t> a </a:t>
            </a:r>
            <a:r>
              <a:rPr lang="en-US" sz="2600" dirty="0" err="1"/>
              <a:t>línea</a:t>
            </a:r>
            <a:r>
              <a:rPr lang="en-US" sz="2600" dirty="0"/>
              <a:t> o byte a byte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6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FC archivo1 archivo2 [/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_tradnl" sz="2800" dirty="0">
                <a:solidFill>
                  <a:srgbClr val="464646"/>
                </a:solidFill>
              </a:rPr>
              <a:t>💡 Ejemplos prácticos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Comparación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texto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antiguo.txt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nuevo.txt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Comparación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binaria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/B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a.bin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b.bin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Mostrar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diferencias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numeración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 /N archivo1 archivo2 /D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022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ABF8B-B13B-DCB4-805F-AC63FD195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BA9A5B3-22CD-58A6-39F4-36E360512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484144B-E812-2878-BCC7-4FEAED3291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6B11F5-BC2B-0A24-71F3-65599D2CA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3E66D9-0BD9-C196-2A0D-208C8D9B8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E8D19-B1CA-C969-01E9-ED3343967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E871969-3FFF-DCA4-0F6E-D69D89ABF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B2C58C-8358-2C03-2673-14715079B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3033A-6F9A-B5BE-EEBA-C75EA8831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3200" dirty="0">
                <a:solidFill>
                  <a:srgbClr val="FFFFFF"/>
                </a:solidFill>
              </a:rPr>
              <a:t>🧱 </a:t>
            </a:r>
            <a:r>
              <a:rPr lang="es-ES_tradnl" sz="2800" dirty="0">
                <a:solidFill>
                  <a:srgbClr val="FFFFFF"/>
                </a:solidFill>
              </a:rPr>
              <a:t>Gestión avanzada de archivos y carpetas: FC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A46CA-FEDD-9CFE-8FEA-2462449F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8368" y="252663"/>
            <a:ext cx="5847348" cy="6472990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600" dirty="0"/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Ejemplo guiado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Modifica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un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texto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usa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FC para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ver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las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diferencias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800" dirty="0">
              <a:solidFill>
                <a:srgbClr val="464646"/>
              </a:solidFill>
              <a:latin typeface="Consolas"/>
            </a:endParaRPr>
          </a:p>
          <a:p>
            <a:pPr marL="0" indent="0">
              <a:lnSpc>
                <a:spcPct val="90000"/>
              </a:lnSpc>
              <a:buNone/>
              <a:defRPr sz="2600">
                <a:solidFill>
                  <a:srgbClr val="464646"/>
                </a:solidFill>
              </a:defRPr>
            </a:pPr>
            <a:r>
              <a:rPr lang="es-ES_tradnl" sz="2800" dirty="0">
                <a:solidFill>
                  <a:srgbClr val="464646"/>
                </a:solidFill>
              </a:rPr>
              <a:t>💡 Ejercicios de profundización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Prueba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FC /W para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ignorar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espacios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blanco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carpetas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completas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con /S.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568521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FIND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400" dirty="0"/>
              <a:t>🖥 FIND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Busca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texto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simple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dentro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o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flujos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salida</a:t>
            </a:r>
            <a:r>
              <a:rPr lang="es-ES" sz="2000" dirty="0">
                <a:solidFill>
                  <a:srgbClr val="464646"/>
                </a:solidFill>
                <a:latin typeface="Consolas"/>
              </a:rPr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6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4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FIND 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</a:t>
            </a:r>
            <a:endParaRPr lang="es-E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6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400" dirty="0"/>
              <a:t>💡 Ejemplos prácticos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Buscar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palabra:  →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 "ERROR"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Contar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coincidencias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 /C "OK"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resultados.txt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Buscar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excluyendo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texto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 /V "temp"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3200" dirty="0">
                <a:solidFill>
                  <a:srgbClr val="FFFFFF"/>
                </a:solidFill>
              </a:rPr>
              <a:t>🧱 </a:t>
            </a:r>
            <a:r>
              <a:rPr lang="es-ES_tradnl" sz="28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800" dirty="0">
                <a:solidFill>
                  <a:srgbClr val="FFFFFF"/>
                </a:solidFill>
              </a:rPr>
            </a:br>
            <a:r>
              <a:rPr lang="es-ES_tradnl" sz="2800" dirty="0">
                <a:solidFill>
                  <a:srgbClr val="FFFFFF"/>
                </a:solidFill>
              </a:rPr>
              <a:t>FIND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/>
              <a:t>Busca</a:t>
            </a:r>
            <a:r>
              <a:rPr lang="en-US" sz="2400" dirty="0"/>
              <a:t> </a:t>
            </a:r>
            <a:r>
              <a:rPr lang="en-US" sz="2400" dirty="0" err="1"/>
              <a:t>dentro</a:t>
            </a:r>
            <a:r>
              <a:rPr lang="en-US" sz="2400" dirty="0"/>
              <a:t> de un </a:t>
            </a:r>
            <a:r>
              <a:rPr lang="en-US" sz="2400" dirty="0" err="1"/>
              <a:t>archivo</a:t>
            </a:r>
            <a:r>
              <a:rPr lang="en-US" sz="2400" dirty="0"/>
              <a:t> de log palabras clave y </a:t>
            </a:r>
            <a:r>
              <a:rPr lang="en-US" sz="2400" dirty="0" err="1"/>
              <a:t>anota</a:t>
            </a:r>
            <a:r>
              <a:rPr lang="en-US" sz="2400" dirty="0"/>
              <a:t> la </a:t>
            </a:r>
            <a:r>
              <a:rPr lang="en-US" sz="2400" dirty="0" err="1"/>
              <a:t>cantidad</a:t>
            </a:r>
            <a:r>
              <a:rPr lang="en-US" sz="2400" dirty="0"/>
              <a:t> de </a:t>
            </a:r>
            <a:r>
              <a:rPr lang="en-US" sz="2400" dirty="0" err="1"/>
              <a:t>coincidencias</a:t>
            </a:r>
            <a:endParaRPr lang="es-ES" sz="24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1800" dirty="0"/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Encadena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SYSTEMINFO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filtrar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información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relevante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frente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a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FINDSTR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B60EE6-DAEC-4CD3-459B-5AD0D08E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27D7AC-9A81-51D1-16C3-0A1C3BEA91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8F83243-2418-4D05-DFC6-8A70A767A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20AEC7-43A6-740C-0742-3B192A054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256AB8-5702-18F1-CE6E-B601D344B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BF42CE-B064-BB20-AF6E-1FBE87546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9452B7F-FA50-0AA3-CC41-A9BC7586C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1EC25D-191C-B6DB-01E7-FDB088B2A3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77583B-BC89-86D5-3199-FA7D8EE27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FINDSTR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B6CC0-7F14-53B3-66E5-F21E20498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400" dirty="0"/>
              <a:t>🖥 FINDSTR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Permite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buscar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patrones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avanzados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expresiones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regulares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archivos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4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FINDSTR 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 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texto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archivos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4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Expresiones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regulares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FINDSTR /R "[0-9][0-9][0-9]"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Búsqueda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recursiva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FINDSTR /S "Error" *.log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Mostrar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número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línea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FINDSTR /N "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usuario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*.txt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69127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A9F3D6-A9C9-B13F-E8C9-32C5EC1E2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B9A0BE-188C-6E31-5C9B-CE7DAC6E0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B9ACEDF-CAFF-E25B-732A-38F4CC26F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AEAC1D-7355-9D1F-64B3-ACB598D4E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919A3C-3968-BC59-828C-24D17B7DD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B82322-3AD9-22EA-DBD9-C830896E6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7DDD01-5041-0417-BE47-3B858736A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C61C38-DEBC-BE68-93FE-CEA3C70BCB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040BF-5653-0E19-493C-F1DAF8E3F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3200" dirty="0">
                <a:solidFill>
                  <a:srgbClr val="FFFFFF"/>
                </a:solidFill>
              </a:rPr>
              <a:t>🧱 </a:t>
            </a:r>
            <a:r>
              <a:rPr lang="es-ES_tradnl" sz="28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800" dirty="0">
                <a:solidFill>
                  <a:srgbClr val="FFFFFF"/>
                </a:solidFill>
              </a:rPr>
            </a:br>
            <a:r>
              <a:rPr lang="es-ES_tradnl" sz="2800" dirty="0">
                <a:solidFill>
                  <a:srgbClr val="FFFFFF"/>
                </a:solidFill>
              </a:rPr>
              <a:t>FINDSTR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AC843-659B-3677-A8E1-D2A9C9317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Busca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varios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log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líneas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que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contengan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números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3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dígitos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búsquedas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con /I (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ignorar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mayúsculas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).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Filtra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múltiples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palabras clave a la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vez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164167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7774C-CEBC-4292-532B-4F6817E39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2F5680-2C7E-420B-82B9-9026D0AC3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820D36-5C3C-275C-CB0C-D9C80BCD3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A6057F-C024-B2BF-25B4-6582D46C83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08086C6-5C34-1027-8743-C24E34957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00A874E-385D-031A-1874-6FABB3D17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1AB1B18-A514-7D03-9F44-CF6A2B192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419FF9-3F43-51C1-883C-AE7D0B30D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2B27F3-F238-7BDA-BB3D-4A7B37695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MORE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8F24C-0AD3-BB60-36A2-B0FD298D0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MORE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/>
              <a:t>Muestra</a:t>
            </a:r>
            <a:r>
              <a:rPr lang="en-US" sz="2000" dirty="0"/>
              <a:t> </a:t>
            </a:r>
            <a:r>
              <a:rPr lang="en-US" sz="2000" dirty="0" err="1"/>
              <a:t>texto</a:t>
            </a:r>
            <a:r>
              <a:rPr lang="en-US" sz="2000" dirty="0"/>
              <a:t> </a:t>
            </a:r>
            <a:r>
              <a:rPr lang="en-US" sz="2000" dirty="0" err="1"/>
              <a:t>página</a:t>
            </a:r>
            <a:r>
              <a:rPr lang="en-US" sz="2000" dirty="0"/>
              <a:t> a </a:t>
            </a:r>
            <a:r>
              <a:rPr lang="en-US" sz="2000" dirty="0" err="1"/>
              <a:t>página</a:t>
            </a:r>
            <a:r>
              <a:rPr lang="en-US" sz="2000" dirty="0"/>
              <a:t>, </a:t>
            </a:r>
            <a:r>
              <a:rPr lang="en-US" sz="2000" dirty="0" err="1"/>
              <a:t>útil</a:t>
            </a:r>
            <a:r>
              <a:rPr lang="en-US" sz="2000" dirty="0"/>
              <a:t> para leer </a:t>
            </a:r>
            <a:r>
              <a:rPr lang="en-US" sz="2000" dirty="0" err="1"/>
              <a:t>archivos</a:t>
            </a:r>
            <a:r>
              <a:rPr lang="en-US" sz="2000" dirty="0"/>
              <a:t> largos o </a:t>
            </a:r>
            <a:r>
              <a:rPr lang="en-US" sz="2000" dirty="0" err="1"/>
              <a:t>salidas</a:t>
            </a:r>
            <a:r>
              <a:rPr lang="en-US" sz="2000" dirty="0"/>
              <a:t> </a:t>
            </a:r>
            <a:r>
              <a:rPr lang="en-US" sz="2000" dirty="0" err="1"/>
              <a:t>extensas</a:t>
            </a:r>
            <a:r>
              <a:rPr lang="es-ES" sz="2000" dirty="0"/>
              <a:t> </a:t>
            </a:r>
            <a:endParaRPr lang="es-ES" sz="20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MORE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Mostrar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texto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paginado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MORE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archivo.txt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Paginar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salida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DIR /S | MORE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Saltar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líneas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log.txt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MORE +5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80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C260FD-C6FE-943D-EBC1-84A287353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A928CC-87ED-D878-FDB4-33D2FA17D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424FC-51E2-4D12-888C-9185D889F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377A52-AEB3-F1FB-26DF-6B854A5764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778716-7369-1158-9688-A6D2B3A0F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4FECF5-0027-25DE-94BA-0B4AB3597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0F12F56-464B-C597-9AA4-C47688BF5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CBE6BF-9370-C7EB-E3B9-81D7B1A4D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B51E7-E2D2-71E2-B814-F7681F12F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3200" dirty="0">
                <a:solidFill>
                  <a:srgbClr val="FFFFFF"/>
                </a:solidFill>
              </a:rPr>
              <a:t>🧱 </a:t>
            </a:r>
            <a:r>
              <a:rPr lang="es-ES_tradnl" sz="28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800" dirty="0">
                <a:solidFill>
                  <a:srgbClr val="FFFFFF"/>
                </a:solidFill>
              </a:rPr>
            </a:br>
            <a:r>
              <a:rPr lang="es-ES_tradnl" sz="2800" dirty="0">
                <a:solidFill>
                  <a:srgbClr val="FFFFFF"/>
                </a:solidFill>
              </a:rPr>
              <a:t>MORE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55FCB-F4D3-1676-68AE-006B5A414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Muestra</a:t>
            </a:r>
            <a:r>
              <a:rPr lang="en-US" sz="2600" dirty="0"/>
              <a:t> un </a:t>
            </a:r>
            <a:r>
              <a:rPr lang="en-US" sz="2600" dirty="0" err="1"/>
              <a:t>archivo</a:t>
            </a:r>
            <a:r>
              <a:rPr lang="en-US" sz="2600" dirty="0"/>
              <a:t> largo con 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MORE</a:t>
            </a:r>
            <a:r>
              <a:rPr lang="en-US" sz="2600" dirty="0"/>
              <a:t> y </a:t>
            </a:r>
            <a:r>
              <a:rPr lang="en-US" sz="2600" dirty="0" err="1"/>
              <a:t>navega</a:t>
            </a:r>
            <a:r>
              <a:rPr lang="en-US" sz="2600" dirty="0"/>
              <a:t> </a:t>
            </a:r>
            <a:r>
              <a:rPr lang="en-US" sz="2600" dirty="0" err="1"/>
              <a:t>usando</a:t>
            </a:r>
            <a:r>
              <a:rPr lang="en-US" sz="2600" dirty="0"/>
              <a:t> la barra </a:t>
            </a:r>
            <a:r>
              <a:rPr lang="en-US" sz="2600" dirty="0" err="1"/>
              <a:t>espaciadora</a:t>
            </a:r>
            <a:endParaRPr lang="es-ES" sz="26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Usa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MORE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inspeccionar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salidas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HELP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Combínalo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FINDSTR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inspecciones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precisas</a:t>
            </a:r>
            <a:r>
              <a:rPr lang="es-ES" sz="2600" dirty="0">
                <a:solidFill>
                  <a:srgbClr val="464646"/>
                </a:solidFill>
                <a:latin typeface="Conso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047644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52960-4E81-561F-FBF9-636FD7EA2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2404B3-3577-4C49-7F64-8E1C2C6EA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875379E-EF08-BCED-715D-4B283783B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A0328D-3B25-C0F0-EF4C-6A9FCFB2A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A45A8BA-3351-815F-9E53-94BE0C70E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3238D1-3C86-1C05-F8A3-4E42FFBCA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1B1244C-C3F6-6914-42FD-6F6EC0C69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F1AB65-1C8B-97C3-0365-41876AD3F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A11A5-8BA4-D106-FF20-F45936E55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PRINT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21DA3-3C47-4AF8-1FD5-5691DC210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PRINT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/>
              <a:t>Envía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contenido</a:t>
            </a:r>
            <a:r>
              <a:rPr lang="en-US" sz="2000" dirty="0"/>
              <a:t> de un </a:t>
            </a:r>
            <a:r>
              <a:rPr lang="en-US" sz="2000" dirty="0" err="1"/>
              <a:t>archivo</a:t>
            </a:r>
            <a:r>
              <a:rPr lang="en-US" sz="2000" dirty="0"/>
              <a:t> de </a:t>
            </a:r>
            <a:r>
              <a:rPr lang="en-US" sz="2000" dirty="0" err="1"/>
              <a:t>texto</a:t>
            </a:r>
            <a:r>
              <a:rPr lang="en-US" sz="2000" dirty="0"/>
              <a:t> a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impresora</a:t>
            </a:r>
            <a:r>
              <a:rPr lang="en-US" sz="2000" dirty="0"/>
              <a:t> </a:t>
            </a:r>
            <a:r>
              <a:rPr lang="en-US" sz="2000" dirty="0" err="1"/>
              <a:t>configurada</a:t>
            </a:r>
            <a:r>
              <a:rPr lang="es-ES" sz="20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MORE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archivo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[/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Imprimir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documento.txt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Impresora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específica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 /D:HP_LaserJet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informe.txt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Imprimir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desde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tubería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error.log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| PRINT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525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5D90EC-476B-0CDC-49A0-5574A403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648417-C567-6EB4-AF3B-6869B1FD9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1FEF637-555E-F556-D6BA-CE6EEA596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1A96B4-E621-34BF-B7A5-119D748093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779630-2CAB-929C-872A-9FA09A131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28A4FC5-7C0E-126A-9E85-B92DA2B03C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02CC86F-9D02-50EC-AE0D-D7D06B8D9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4823E37-C534-80E2-9E4F-E020A3AC6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ABD37-64FF-B85B-5017-36A0F999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3200" dirty="0">
                <a:solidFill>
                  <a:srgbClr val="FFFFFF"/>
                </a:solidFill>
              </a:rPr>
              <a:t>🧱 </a:t>
            </a:r>
            <a:r>
              <a:rPr lang="es-ES_tradnl" sz="28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800" dirty="0">
                <a:solidFill>
                  <a:srgbClr val="FFFFFF"/>
                </a:solidFill>
              </a:rPr>
            </a:br>
            <a:r>
              <a:rPr lang="es-ES_tradnl" sz="2800" dirty="0">
                <a:solidFill>
                  <a:srgbClr val="FFFFFF"/>
                </a:solidFill>
              </a:rPr>
              <a:t>PRINT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833ACA-18D9-C4F2-E999-673159B4C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Imprime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un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texto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ejemplo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(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si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hay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impresora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configurada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).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Prueba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imprimir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hacia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cola remota.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Simula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impresión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enviando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impresora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PDF</a:t>
            </a:r>
            <a:r>
              <a:rPr lang="es-ES" sz="2600" dirty="0">
                <a:solidFill>
                  <a:srgbClr val="464646"/>
                </a:solidFill>
                <a:latin typeface="Conso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63017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96298-933D-BDC1-BC21-7ED171C2C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9745CC9-A90A-2412-8DEB-0D4420CE0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A993F54-C927-821B-1E83-8BF4B4165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57D7B0-75D0-AF02-8964-02DC252F84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64F179-0266-738F-312C-9E6EF7DD2E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84208D-4E80-5E1D-16AE-5B5CD9DC0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AFB87C-C754-D5F5-B81E-4E03E1B0C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3593CCC-870C-57FC-CEF6-4C5FA52A2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421236-FF85-0050-BF6D-E669087E5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TREE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2C36E-D043-AFAF-DE1C-1A02F49F6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TREE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000" dirty="0" err="1"/>
              <a:t>Muestra</a:t>
            </a:r>
            <a:r>
              <a:rPr lang="en-US" sz="2000" dirty="0"/>
              <a:t> la </a:t>
            </a:r>
            <a:r>
              <a:rPr lang="en-US" sz="2000" dirty="0" err="1"/>
              <a:t>estructura</a:t>
            </a:r>
            <a:r>
              <a:rPr lang="en-US" sz="2000" dirty="0"/>
              <a:t> de </a:t>
            </a:r>
            <a:r>
              <a:rPr lang="en-US" sz="2000" dirty="0" err="1"/>
              <a:t>carpetas</a:t>
            </a:r>
            <a:r>
              <a:rPr lang="en-US" sz="2000" dirty="0"/>
              <a:t> </a:t>
            </a:r>
            <a:r>
              <a:rPr lang="en-US" sz="2000" dirty="0" err="1"/>
              <a:t>en</a:t>
            </a:r>
            <a:r>
              <a:rPr lang="en-US" sz="2000" dirty="0"/>
              <a:t> forma </a:t>
            </a:r>
            <a:r>
              <a:rPr lang="en-US" sz="2000" dirty="0" err="1"/>
              <a:t>jerárquica</a:t>
            </a:r>
            <a:r>
              <a:rPr lang="en-US" sz="2000" dirty="0"/>
              <a:t>, con </a:t>
            </a:r>
            <a:r>
              <a:rPr lang="en-US" sz="2000" dirty="0" err="1"/>
              <a:t>posibilidad</a:t>
            </a:r>
            <a:r>
              <a:rPr lang="en-US" sz="2000" dirty="0"/>
              <a:t> de </a:t>
            </a:r>
            <a:r>
              <a:rPr lang="en-US" sz="2000" dirty="0" err="1"/>
              <a:t>incluir</a:t>
            </a:r>
            <a:r>
              <a:rPr lang="en-US" sz="2000" dirty="0"/>
              <a:t> </a:t>
            </a:r>
            <a:r>
              <a:rPr lang="en-US" sz="2000" dirty="0" err="1"/>
              <a:t>archivos</a:t>
            </a:r>
            <a:endParaRPr lang="en-US" sz="20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TREE 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ruta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] [/F] [/A]</a:t>
            </a:r>
            <a:r>
              <a:rPr lang="es-E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Estructura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básica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 C:\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Incluir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 C:\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Proyectos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/F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64646"/>
                </a:solidFill>
                <a:latin typeface="Consolas"/>
              </a:rPr>
              <a:t>Exportar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000" dirty="0" err="1">
                <a:solidFill>
                  <a:srgbClr val="464646"/>
                </a:solidFill>
                <a:latin typeface="Consolas"/>
              </a:rPr>
              <a:t>estructura</a:t>
            </a:r>
            <a:r>
              <a:rPr lang="en-US" sz="2000" dirty="0">
                <a:solidFill>
                  <a:srgbClr val="464646"/>
                </a:solidFill>
                <a:latin typeface="Consolas"/>
              </a:rPr>
              <a:t>:  → 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 C:\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Proyectos</a:t>
            </a:r>
            <a:r>
              <a:rPr lang="en-US" sz="20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/F &gt; </a:t>
            </a:r>
            <a:r>
              <a:rPr lang="en-US" sz="20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estructura.txt</a:t>
            </a:r>
            <a:endParaRPr lang="es-ES" sz="20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946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4B4D5-B05C-8A52-0494-EF683C14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8215E0-3B26-9F7D-B12C-B2ADF0254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B3D361-9C2A-4C7C-E78C-1F9BBF31E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222C52-A89F-0615-8AF1-0E30FB567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540D22-ACBA-A4F0-8F4D-B2E53AADD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360796-B754-086A-FB59-E2AD51FDD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D0BC931-1D3A-9E9D-430A-F98B5CA71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273229C-8E16-EB3B-FF50-FD9D793E9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E6278-DA69-1B39-6E35-EE03B30FE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3200" dirty="0">
                <a:solidFill>
                  <a:srgbClr val="FFFFFF"/>
                </a:solidFill>
              </a:rPr>
              <a:t>🧱 </a:t>
            </a:r>
            <a:r>
              <a:rPr lang="es-ES_tradnl" sz="2800" dirty="0">
                <a:solidFill>
                  <a:srgbClr val="FFFFFF"/>
                </a:solidFill>
              </a:rPr>
              <a:t>Gestión avanzada de archivos y carpetas: </a:t>
            </a:r>
            <a:br>
              <a:rPr lang="es-ES_tradnl" sz="2800" dirty="0">
                <a:solidFill>
                  <a:srgbClr val="FFFFFF"/>
                </a:solidFill>
              </a:rPr>
            </a:br>
            <a:r>
              <a:rPr lang="es-ES_tradnl" sz="2800" dirty="0">
                <a:solidFill>
                  <a:srgbClr val="FFFFFF"/>
                </a:solidFill>
              </a:rPr>
              <a:t>TREE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112E6-D621-55BF-E63B-C5B268A75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Genera la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estructura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carpeta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prácticas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usando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 /F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6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Exporta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estructura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analiza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árbol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resultante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Comparar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estructura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antes y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después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usar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ROBOCOPY /MIR</a:t>
            </a:r>
            <a:r>
              <a:rPr lang="es-E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13551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9A40E-3020-C30C-4E62-9C5BB6A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E49869-8673-D2E2-743A-F805612CC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EA9B28A-B0E4-1EA2-FDB7-ECCA150D1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01DD87-67EF-06D9-0C1B-B15C4E68F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3C139F-BD51-151D-AE5C-74A39B266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DF82A0-B158-CBB8-BF1C-39FBD1876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95142CF-3D9C-56B6-7AEF-03B08EA6F5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8FDF682-6F3B-653B-EA22-E14B6CA91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6777DA-7F7A-8635-8851-B1BCEE5D5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SYSTEMINFO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51D0B-FE0C-0C1A-DE8C-698BD23EB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SYSTEMINFO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Muestra</a:t>
            </a:r>
            <a:r>
              <a:rPr lang="en-US" sz="2600" dirty="0"/>
              <a:t> </a:t>
            </a:r>
            <a:r>
              <a:rPr lang="en-US" sz="2600" dirty="0" err="1"/>
              <a:t>información</a:t>
            </a:r>
            <a:r>
              <a:rPr lang="en-US" sz="2600" dirty="0"/>
              <a:t> </a:t>
            </a:r>
            <a:r>
              <a:rPr lang="en-US" sz="2600" dirty="0" err="1"/>
              <a:t>detallada</a:t>
            </a:r>
            <a:r>
              <a:rPr lang="en-US" sz="2600" dirty="0"/>
              <a:t> del </a:t>
            </a:r>
            <a:r>
              <a:rPr lang="en-US" sz="2600" dirty="0" err="1"/>
              <a:t>sistema</a:t>
            </a:r>
            <a:r>
              <a:rPr lang="en-US" sz="2600" dirty="0"/>
              <a:t> </a:t>
            </a:r>
            <a:r>
              <a:rPr lang="en-US" sz="2600" dirty="0" err="1"/>
              <a:t>operativo</a:t>
            </a:r>
            <a:r>
              <a:rPr lang="en-US" sz="2600" dirty="0"/>
              <a:t>, hardware, memoria, red y </a:t>
            </a:r>
            <a:r>
              <a:rPr lang="en-US" sz="2600" dirty="0" err="1"/>
              <a:t>configuración</a:t>
            </a:r>
            <a:r>
              <a:rPr lang="en-US" sz="2600" dirty="0"/>
              <a:t> general</a:t>
            </a:r>
            <a:endParaRPr lang="es-ES" sz="2600" dirty="0"/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SYSTEMINFO</a:t>
            </a:r>
            <a:endParaRPr lang="es-E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Mostrar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información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completa: →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SYSTEMINFO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Filtrar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por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versión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Windows: →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SYSTEMINFO | FIND "OS"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Exportar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SYSTEMINFO &gt; </a:t>
            </a:r>
            <a:r>
              <a:rPr lang="en-US" sz="24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info.txt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167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D1F0B4-FCFB-1619-6553-3ED542758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CBC49B0-9424-90A8-7C4E-90912F2E51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ACE08BD-9D04-12BD-25DF-90207AF3D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EFAEB6-D2C9-9F43-8254-AEEAB9743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1D0411-AF40-7822-7BAC-6D8AAE757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AF355B-1789-F6F1-B24A-3864F4AFA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40AB3F5-7DD0-3A9B-0456-640634588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1C1937-956C-3626-C8A0-E4BA74AD0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852326-D371-93B5-0A1C-63F26314D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SYSTEMINFO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90F0-2DFA-1AFB-AAA0-ED61BAA1B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Ejecuta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SYSTEMINFO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localiza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versión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del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sistema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,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arquitectura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fecha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instalación</a:t>
            </a:r>
            <a:endParaRPr lang="en-U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_tradnl" sz="26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Filtra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únicamente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información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red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usando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FINDSTR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Exporta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resultado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compáralo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otro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equipo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51289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06F42-CE6E-0EBE-1526-156311C03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DA4AC5-3D24-71D7-DD35-7FBD39C31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9170CAF-B393-0699-446E-C17EAB686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34DEE5-BA28-CABA-0B7F-927196651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0153DA-64C5-F2AB-B3D9-023C5A5BB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397E0F-D590-F6FF-0B02-F65F6CA1C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0B1E80-7305-91D8-0203-504C8D1D93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3EE540-19CF-79EB-2C10-90A381F1B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870DB-2D3C-6A2E-C4FA-08370A1A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VOL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8C90D-18DB-903F-D600-C83635A27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VOL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Muestra</a:t>
            </a:r>
            <a:r>
              <a:rPr lang="en-US" sz="2600" dirty="0"/>
              <a:t> la </a:t>
            </a:r>
            <a:r>
              <a:rPr lang="en-US" sz="2600" dirty="0" err="1"/>
              <a:t>etiqueta</a:t>
            </a:r>
            <a:r>
              <a:rPr lang="en-US" sz="2600" dirty="0"/>
              <a:t> del </a:t>
            </a:r>
            <a:r>
              <a:rPr lang="en-US" sz="2600" dirty="0" err="1"/>
              <a:t>volumen</a:t>
            </a:r>
            <a:r>
              <a:rPr lang="en-US" sz="2600" dirty="0"/>
              <a:t> y </a:t>
            </a:r>
            <a:r>
              <a:rPr lang="en-US" sz="2600" dirty="0" err="1"/>
              <a:t>el</a:t>
            </a:r>
            <a:r>
              <a:rPr lang="en-US" sz="2600" dirty="0"/>
              <a:t> </a:t>
            </a:r>
            <a:r>
              <a:rPr lang="en-US" sz="2600" dirty="0" err="1"/>
              <a:t>número</a:t>
            </a:r>
            <a:r>
              <a:rPr lang="en-US" sz="2600" dirty="0"/>
              <a:t> de </a:t>
            </a:r>
            <a:r>
              <a:rPr lang="en-US" sz="2600" dirty="0" err="1"/>
              <a:t>serie</a:t>
            </a:r>
            <a:r>
              <a:rPr lang="en-US" sz="2600" dirty="0"/>
              <a:t> de </a:t>
            </a:r>
            <a:r>
              <a:rPr lang="en-US" sz="2600" dirty="0" err="1"/>
              <a:t>una</a:t>
            </a:r>
            <a:r>
              <a:rPr lang="en-US" sz="2600" dirty="0"/>
              <a:t> </a:t>
            </a:r>
            <a:r>
              <a:rPr lang="en-US" sz="2600" dirty="0" err="1"/>
              <a:t>unidad</a:t>
            </a:r>
            <a:r>
              <a:rPr lang="es-ES" sz="26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VOL 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unidad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:]</a:t>
            </a:r>
            <a:endParaRPr lang="es-E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Mostrar</a:t>
            </a:r>
            <a:r>
              <a:rPr lang="en-US" sz="2600" dirty="0"/>
              <a:t> </a:t>
            </a:r>
            <a:r>
              <a:rPr lang="en-US" sz="2600" dirty="0" err="1"/>
              <a:t>etiqueta</a:t>
            </a:r>
            <a:r>
              <a:rPr lang="en-US" sz="2600" dirty="0"/>
              <a:t> de C</a:t>
            </a:r>
            <a:r>
              <a:rPr lang="es-ES" sz="2600" dirty="0"/>
              <a:t> 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VOL C:</a:t>
            </a:r>
            <a:r>
              <a:rPr lang="es-E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Mostrar</a:t>
            </a:r>
            <a:r>
              <a:rPr lang="en-US" sz="2600" dirty="0"/>
              <a:t> </a:t>
            </a:r>
            <a:r>
              <a:rPr lang="en-US" sz="2600" dirty="0" err="1"/>
              <a:t>etiqueta</a:t>
            </a:r>
            <a:r>
              <a:rPr lang="en-US" sz="2600" dirty="0"/>
              <a:t> de un USB</a:t>
            </a:r>
            <a:r>
              <a:rPr lang="es-ES" sz="2600" dirty="0"/>
              <a:t> 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VOL E:</a:t>
            </a:r>
            <a:r>
              <a:rPr lang="es-E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15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7AF4D-A4F8-E91C-7E32-CB29B076E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6FEB83-5A32-EFE4-F026-65FFB77C8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8529A81-2FD4-17CB-EDBE-06593A16D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42080-720B-C546-9D37-36F73077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C40F32-3A7E-4CA6-4C76-9EFB8B9A4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407FFA-2A2A-E4F7-3F9A-D1AFA4545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4791875-E528-536A-B246-3F6DB1630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F2B87D-67C4-11A4-D251-7FBC8567E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D1CA76-F97E-27DA-B236-9D259F060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VOL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6FACF-56A7-EA01-026D-A3107AB21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Introduce un USB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usa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identificar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su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etiqueta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número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serie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  <a:endParaRPr lang="en-U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_tradnl" sz="26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etiquetas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antes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después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usar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Documenta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los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volúmenes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varias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unidades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7988388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5A8F86-591D-4853-BDD2-015EB6C6E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159DB0D-D5B6-A0A2-ADCA-537A3E233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58B095-D537-EF5C-4D89-B639F2F0A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B9C606-2B30-375C-E92F-538F2DD04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744D6A-B2CD-45BB-1366-4A7548DD8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789146-DB2A-15AA-6382-D65AED4F7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85172DA-D206-E809-174D-D2E9B51E6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261631-9489-925F-C855-BFBE6F056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080B5-A29A-E3EB-40C3-C3053624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VERIFY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5B226-1E98-799C-2A39-F85539AF3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VERIFY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Activa o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desactiva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verificación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escritura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disco al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copiar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archivos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VERIFY [ON|OFF]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Activar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verificación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VERIFY ON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Desactivar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verificación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VERIFY OFF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0847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03D735-860E-721A-86D7-AEF3821AE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05480FC-959C-2F2E-463B-B77C1C4B2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A82659A-F964-0FC1-80F7-FF089CC2D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5CE13C-0A62-902F-8676-1AC221EB1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355D432-38A5-4908-3E67-D3D9ED3EC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8CE0C5-67C4-7343-D116-AD30DC6E4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4C1CA4-A5AB-FE4D-AD19-DC4FC7492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7C2CC5-7EEA-1894-F2FE-80FB8B3C1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FC605-BD9B-C39B-437F-CB4D3C37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VERIFY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2F355-A36E-6235-BF38-8AB4B534A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Introduce un USB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usa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identificar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su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etiqueta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número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serie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  <a:endParaRPr lang="en-U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_tradnl" sz="26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Prueba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VERIFY con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grandes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01023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9DA70-B6F0-912A-F705-69D721C2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9643298-C390-84E4-BB6C-27BBAD771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05490B9-7460-5AB5-7FB5-5B1387AB0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E89A6-2FB5-361E-0410-55BE50E8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2A8081-F593-0688-B561-6801FEAFA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602C2-B515-F4EB-77D7-C3D9335A1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9D3B361-8F35-11F0-54E7-D9C1670922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621BCC-F9A0-2589-3269-695EC1103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04CD5C-4C0B-40A3-87F1-604325719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MODE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A490A-13E2-5311-DAE9-828993070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MODE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Configura</a:t>
            </a:r>
            <a:r>
              <a:rPr lang="en-US" sz="2600" dirty="0"/>
              <a:t> </a:t>
            </a:r>
            <a:r>
              <a:rPr lang="en-US" sz="2600" dirty="0" err="1"/>
              <a:t>dispositivos</a:t>
            </a:r>
            <a:r>
              <a:rPr lang="en-US" sz="2600" dirty="0"/>
              <a:t> del </a:t>
            </a:r>
            <a:r>
              <a:rPr lang="en-US" sz="2600" dirty="0" err="1"/>
              <a:t>sistema</a:t>
            </a:r>
            <a:r>
              <a:rPr lang="en-US" sz="2600" dirty="0"/>
              <a:t> </a:t>
            </a:r>
            <a:r>
              <a:rPr lang="en-US" sz="2600" dirty="0" err="1"/>
              <a:t>como</a:t>
            </a:r>
            <a:r>
              <a:rPr lang="en-US" sz="2600" dirty="0"/>
              <a:t> </a:t>
            </a:r>
            <a:r>
              <a:rPr lang="en-US" sz="2600" dirty="0" err="1"/>
              <a:t>consola</a:t>
            </a:r>
            <a:r>
              <a:rPr lang="en-US" sz="2600" dirty="0"/>
              <a:t>, </a:t>
            </a:r>
            <a:r>
              <a:rPr lang="en-US" sz="2600" dirty="0" err="1"/>
              <a:t>puertos</a:t>
            </a:r>
            <a:r>
              <a:rPr lang="en-US" sz="2600" dirty="0"/>
              <a:t> </a:t>
            </a:r>
            <a:r>
              <a:rPr lang="en-US" sz="2600" dirty="0" err="1"/>
              <a:t>serie</a:t>
            </a:r>
            <a:r>
              <a:rPr lang="en-US" sz="2600" dirty="0"/>
              <a:t> o </a:t>
            </a:r>
            <a:r>
              <a:rPr lang="en-US" sz="2600" dirty="0" err="1"/>
              <a:t>páginas</a:t>
            </a:r>
            <a:r>
              <a:rPr lang="en-US" sz="2600" dirty="0"/>
              <a:t> de </a:t>
            </a:r>
            <a:r>
              <a:rPr lang="en-US" sz="2600" dirty="0" err="1"/>
              <a:t>códigos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MODE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dispositivo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parámetros</a:t>
            </a:r>
            <a:r>
              <a:rPr lang="es-E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Cambiar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tamaño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consola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 CON: COLS=120 LINES=40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Cambiar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página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códigos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 CON CP SELECT=850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Consultar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dispositivos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MODE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251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33A47-F767-A030-49E0-00CFCF28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229BD22-CCB2-01BD-0A35-DFACAD0A2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CDCA152-CE2B-D559-0279-A6A5CC85D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7E77B4-83D4-6A44-5023-78DFA905E2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F169DC-0EF1-042B-4572-DC2BE8BEB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A42349-D0B7-B869-21A6-F72FA1824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10ECC7E-1639-2D7A-123D-EAED26C36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BAC27B-2226-D539-D791-8198A82D6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3CE6A9-2281-818B-1BC7-BBA1B1A46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MODE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5AD51-835F-7778-AAA2-1BABB2E7C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Ajusta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tamaño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la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consola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verifica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cambio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Prueba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distintas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páginas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códigos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55494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A39296-FEAD-1A75-57FA-A6B02B2FE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6A6B8B-C0DE-2ACC-3D1E-753A1FA36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0ED54C-6AC2-1FDA-5FC4-84993BC76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83CC59-7FFD-37B4-0B5D-3196BF48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DF803B-8D50-516F-27DF-9A1D21B7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41A939-0DC2-6E74-A2FD-59D530FB3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194C8AD-23E5-BF12-8C16-49C1697AE4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DFE91E-1FD8-F055-A08A-FE0F514D0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B2781B-F528-8150-850F-FF5CE5A33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CHCP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B71C6-1ACA-FE65-A95D-46D028F98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CHCP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/>
              <a:t>Consulta o cambia la </a:t>
            </a:r>
            <a:r>
              <a:rPr lang="en-US" sz="2600" dirty="0" err="1"/>
              <a:t>página</a:t>
            </a:r>
            <a:r>
              <a:rPr lang="en-US" sz="2600" dirty="0"/>
              <a:t> de </a:t>
            </a:r>
            <a:r>
              <a:rPr lang="en-US" sz="2600" dirty="0" err="1"/>
              <a:t>códigos</a:t>
            </a:r>
            <a:r>
              <a:rPr lang="en-US" sz="2600" dirty="0"/>
              <a:t> de la </a:t>
            </a:r>
            <a:r>
              <a:rPr lang="en-US" sz="2600" dirty="0" err="1"/>
              <a:t>consola</a:t>
            </a:r>
            <a:r>
              <a:rPr lang="en-US" sz="2600" dirty="0"/>
              <a:t>, </a:t>
            </a:r>
            <a:r>
              <a:rPr lang="en-US" sz="2600" dirty="0" err="1"/>
              <a:t>afectando</a:t>
            </a:r>
            <a:r>
              <a:rPr lang="en-US" sz="2600" dirty="0"/>
              <a:t> a </a:t>
            </a:r>
            <a:r>
              <a:rPr lang="en-US" sz="2600" dirty="0" err="1"/>
              <a:t>cómo</a:t>
            </a:r>
            <a:r>
              <a:rPr lang="en-US" sz="2600" dirty="0"/>
              <a:t> se </a:t>
            </a:r>
            <a:r>
              <a:rPr lang="en-US" sz="2600" dirty="0" err="1"/>
              <a:t>muestran</a:t>
            </a:r>
            <a:r>
              <a:rPr lang="en-US" sz="2600" dirty="0"/>
              <a:t> </a:t>
            </a:r>
            <a:r>
              <a:rPr lang="en-US" sz="2600" dirty="0" err="1"/>
              <a:t>caracteres</a:t>
            </a:r>
            <a:r>
              <a:rPr lang="en-US" sz="2600" dirty="0"/>
              <a:t> </a:t>
            </a:r>
            <a:r>
              <a:rPr lang="en-US" sz="2600" dirty="0" err="1"/>
              <a:t>especiales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CHCP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código</a:t>
            </a:r>
            <a:endParaRPr lang="es-ES" sz="24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Mostrar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página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actual: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CHCP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Cambiar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a UTF-8: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CHCP 65001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Usar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código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español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CHCP 850</a:t>
            </a:r>
            <a:r>
              <a:rPr lang="es-E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260951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7DED2-7C49-96A2-7059-61C9105C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07FF3D-C2F6-0CC7-2DED-1FF7396B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7A84FC3-F18F-E3D5-208D-BA4C31229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86863D-88FE-8E26-2F0B-3F987FA79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88D092-241C-20E3-CF82-17485B5C4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CA7B86-7527-80FB-21EE-681EEF081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524C000-0E23-8D08-C5E6-FBCB437C4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534A92-3E3E-B6F9-4C5D-47B5B0C1B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237ED-1CEC-922D-201F-165299AD3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CHCP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78071-B556-2221-F0CA-3FDF6BD89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Cambia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temporalmente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página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códigos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escribe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caracteres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acentuados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</a:p>
          <a:p>
            <a:pPr marL="0" indent="0">
              <a:buNone/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Evalúa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diferencias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entre 437, 850 y 65001.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Prueba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scripts con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acentos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varias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páginas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30867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227706-B11B-4D1A-5034-95BE9C01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185BDDE-6EBD-5852-A476-6A14351AC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E05264-0E67-DE47-4825-5E68202AC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208A6F-415D-0CA8-FF5B-455FCC179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B9E25-F269-A6AE-2A1D-DB3036311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7B1709-AB1E-7F1C-2650-47DC2882C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4125E-16E4-F8FE-B23F-DA984B50B8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3D567D-3532-3AB0-05B4-4ED1C856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7DCCD-E0DC-5517-A606-E178835B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CHKNTFS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6D781-59BF-3B6E-4C98-B43828B67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CKNTFS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Controla</a:t>
            </a:r>
            <a:r>
              <a:rPr lang="en-US" sz="2600" dirty="0"/>
              <a:t> </a:t>
            </a:r>
            <a:r>
              <a:rPr lang="en-US" sz="2600" dirty="0" err="1"/>
              <a:t>cómo</a:t>
            </a:r>
            <a:r>
              <a:rPr lang="en-US" sz="2600" dirty="0"/>
              <a:t> se </a:t>
            </a:r>
            <a:r>
              <a:rPr lang="en-US" sz="2600" dirty="0" err="1"/>
              <a:t>comprueban</a:t>
            </a:r>
            <a:r>
              <a:rPr lang="en-US" sz="2600" dirty="0"/>
              <a:t> las </a:t>
            </a:r>
            <a:r>
              <a:rPr lang="en-US" sz="2600" dirty="0" err="1"/>
              <a:t>unidades</a:t>
            </a:r>
            <a:r>
              <a:rPr lang="en-US" sz="2600" dirty="0"/>
              <a:t> NTFS al </a:t>
            </a:r>
            <a:r>
              <a:rPr lang="en-US" sz="2600" dirty="0" err="1"/>
              <a:t>arrancar</a:t>
            </a:r>
            <a:r>
              <a:rPr lang="en-US" sz="2600" dirty="0"/>
              <a:t> Windows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CHKNTFS 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volumen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/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endParaRPr lang="es-E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Ver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formato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unidad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CHKNTFS C: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Evitar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comprobación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CHKNTFS /X C: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Restaurar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comportamiento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CHKNTFS /D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1576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1BE6F-E114-CADF-DC85-585CC3522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91131ED-5678-396E-9544-F4F21B1BA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738F87E-7406-CA29-AB44-F3BAC3EA8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53E268B-2BE8-4666-E719-F0426FFDE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3BE734-9117-E08A-0551-3BFB43B87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7EA2F8-2275-AE6F-1BC2-A17A892E2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77C1086-2593-37AE-350F-F0C678CD2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806A7F-C267-DE53-98A9-C4C2659B2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56E8D-CFFB-9260-C236-8FD71BB51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CHKNTFS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83D76-62C3-8B2B-C717-FB04704952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Consulta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estado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CHKNTFS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la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unidad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C: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 </a:t>
            </a:r>
          </a:p>
          <a:p>
            <a:pPr marL="0" indent="0">
              <a:buNone/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Configura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/T:5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modificar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temporizador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Analiza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diferencias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entre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/X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/C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285777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D901B8-9226-0BA5-D385-EC1AEFF98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1F0E0D-71EF-E524-73FB-89E8998C1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F350F2-0813-DC81-E888-BEBF58FE1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2C9E29D-2869-C61D-B866-A0FFCA631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83B561-0B11-01F8-ED1E-F204C053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9BE8B1-1B64-5774-A52B-72818BFF6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937329B-68D7-26AC-2D89-009CEEBE8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9C8D52A-9689-2952-5682-A39A575B53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FC7B77-4087-F96B-21DB-213D88526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DRIVERQUERY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63A0-7330-57E4-FD2D-E60A909A7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DRIVERQUERY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/>
              <a:t>Lista </a:t>
            </a:r>
            <a:r>
              <a:rPr lang="en-US" sz="2600" dirty="0" err="1"/>
              <a:t>los</a:t>
            </a:r>
            <a:r>
              <a:rPr lang="en-US" sz="2600" dirty="0"/>
              <a:t> </a:t>
            </a:r>
            <a:r>
              <a:rPr lang="en-US" sz="2600" dirty="0" err="1"/>
              <a:t>controladores</a:t>
            </a:r>
            <a:r>
              <a:rPr lang="en-US" sz="2600" dirty="0"/>
              <a:t> </a:t>
            </a:r>
            <a:r>
              <a:rPr lang="en-US" sz="2600" dirty="0" err="1"/>
              <a:t>instalados</a:t>
            </a:r>
            <a:r>
              <a:rPr lang="en-US" sz="2600" dirty="0"/>
              <a:t> </a:t>
            </a:r>
            <a:r>
              <a:rPr lang="en-US" sz="2600" dirty="0" err="1"/>
              <a:t>en</a:t>
            </a:r>
            <a:r>
              <a:rPr lang="en-US" sz="2600" dirty="0"/>
              <a:t> </a:t>
            </a:r>
            <a:r>
              <a:rPr lang="en-US" sz="2600" dirty="0" err="1"/>
              <a:t>el</a:t>
            </a:r>
            <a:r>
              <a:rPr lang="en-US" sz="2600" dirty="0"/>
              <a:t> </a:t>
            </a:r>
            <a:r>
              <a:rPr lang="en-US" sz="2600" dirty="0" err="1"/>
              <a:t>sistema</a:t>
            </a:r>
            <a:r>
              <a:rPr lang="en-US" sz="2600" dirty="0"/>
              <a:t>, sus </a:t>
            </a:r>
            <a:r>
              <a:rPr lang="en-US" sz="2600" dirty="0" err="1"/>
              <a:t>versiones</a:t>
            </a:r>
            <a:r>
              <a:rPr lang="en-US" sz="2600" dirty="0"/>
              <a:t> y </a:t>
            </a:r>
            <a:r>
              <a:rPr lang="en-US" sz="2600" dirty="0" err="1"/>
              <a:t>estados</a:t>
            </a:r>
            <a:endParaRPr lang="es-ES" sz="26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DRIVERQUERY [/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sz="2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Listado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básico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DRIVERQUERY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Salida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detallada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DRIVERQUERY /V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Exportar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como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CSV: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DRIVERQUERY /FO CSV &gt;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drivers.csv</a:t>
            </a:r>
            <a:r>
              <a:rPr lang="es-E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19562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1D197D-E384-E19A-BDE0-770C430D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A173353-F68D-560E-0062-13C58E5A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4ACDE60-B44F-CAF0-B6BB-8CA61C50C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9EFDEE-87FA-B3AA-ED40-BAA90F316F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446D3-0C76-0482-ADB2-1D1B86F16B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08DCA6-3593-CD60-2C27-6F89A0E0A9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1E8E63E-7708-D830-6825-0191C0844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F6CE88-49CF-0CF3-E627-DE158696A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396F4-4F85-741B-23A7-82CCB39B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DRIVERQUERY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FB41B-2018-1934-CB9B-3BBEE7196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Localiza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driver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tu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tarjeta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gráfica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usando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DRIVERQUERY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Filtra drivers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firmados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con /SI.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Genera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inventarios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drivers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varios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equipos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3142525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EF7E2-C589-A521-6D4A-DD882B3DC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9FC45-EFD8-F9F2-5465-410341D82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A9F0C13-ED37-0B2F-BEC1-603FB838F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8A150A-306F-37F3-EFBF-B9ADCFF78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E2EC8F-A9DD-3ACD-C565-ED5137FE34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91534-9528-6656-4AB9-259901C8E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9E3D5C9-0445-B647-C045-04A125FDF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9C2BF2-42F5-9594-76D4-5DC3FEB6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11B89-52FD-6899-79D9-2D196C89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FSUTIL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7CD42-5D15-9D1A-6243-1457A7CA8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FSUTIL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/>
              <a:t>Consulta y </a:t>
            </a:r>
            <a:r>
              <a:rPr lang="en-US" sz="2600" dirty="0" err="1"/>
              <a:t>gestiona</a:t>
            </a:r>
            <a:r>
              <a:rPr lang="en-US" sz="2600" dirty="0"/>
              <a:t> </a:t>
            </a:r>
            <a:r>
              <a:rPr lang="en-US" sz="2600" dirty="0" err="1"/>
              <a:t>funciones</a:t>
            </a:r>
            <a:r>
              <a:rPr lang="en-US" sz="2600" dirty="0"/>
              <a:t> </a:t>
            </a:r>
            <a:r>
              <a:rPr lang="en-US" sz="2600" dirty="0" err="1"/>
              <a:t>avanzadas</a:t>
            </a:r>
            <a:r>
              <a:rPr lang="en-US" sz="2600" dirty="0"/>
              <a:t> del </a:t>
            </a:r>
            <a:r>
              <a:rPr lang="en-US" sz="2600" dirty="0" err="1"/>
              <a:t>sistema</a:t>
            </a:r>
            <a:r>
              <a:rPr lang="en-US" sz="2600" dirty="0"/>
              <a:t> de </a:t>
            </a:r>
            <a:r>
              <a:rPr lang="en-US" sz="2600" dirty="0" err="1"/>
              <a:t>archivos</a:t>
            </a:r>
            <a:r>
              <a:rPr lang="en-US" sz="2600" dirty="0"/>
              <a:t>, discos y </a:t>
            </a:r>
            <a:r>
              <a:rPr lang="en-US" sz="2600" dirty="0" err="1"/>
              <a:t>volúmenes</a:t>
            </a:r>
            <a:r>
              <a:rPr lang="es-ES" sz="26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FSUTIL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categoría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comando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s-E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Información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volumen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FSUTIL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fsinfo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volumeinfo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C: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Ver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unidades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montadas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FSUTIL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fsinfo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drives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Crear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archivo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tamaño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fijo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FSUTIL file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createnew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archivo.bin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1073741824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5328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50899A-C4F5-1194-A74E-BB09C27C0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3EE7C5-C42B-7A52-6D71-2A311B78A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14C579C-AB99-0985-D620-906018B01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4B8975-3B98-32AF-4DC9-7D04D1B03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0F6B98-F918-FD34-B8E5-DC9AC9303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77AA29-9C79-034A-51C6-5E67C075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3468FF0-1DE1-BA52-5F8E-3D2CE1722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7C173D-B553-5DC9-36F0-FFB4D5493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5F516-75B1-2347-C500-5D5E6489A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FSUTIL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DA1A1-C4C0-CF88-5A2F-AAE1F289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Usa FSUTIL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fsinfo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identificar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características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tu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unidad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C:</a:t>
            </a:r>
            <a:r>
              <a:rPr lang="es-E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Analiza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tamaño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sector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físico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lógico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Crea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archivos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grandes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compara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tamaños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1512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F3845A-1524-62B0-49B9-8B488F9EC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85D41C-0E3E-FB34-B1EB-B47BCD25E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F020BCC-E573-25F0-A7C4-FA7A9B93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D3B4492-79DE-FB46-AF46-57CF3BC72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53F866-22D3-1B1C-EB4E-97EE3BDAC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735C01-1FDB-509E-E4D7-BCA0C29A4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63BD9B1-AEEE-DF37-8DD8-417AC10F9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3C3C30F-849B-E564-68BC-C6C9F5F772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C509F4-B1C7-8E30-FB59-7B5B6D90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BCDEDIT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72578-3996-DF2C-FB35-B31C4AC17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BCDEDIT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/>
              <a:t>Edita </a:t>
            </a:r>
            <a:r>
              <a:rPr lang="en-US" sz="2600" dirty="0" err="1"/>
              <a:t>el</a:t>
            </a:r>
            <a:r>
              <a:rPr lang="en-US" sz="2600" dirty="0"/>
              <a:t> </a:t>
            </a:r>
            <a:r>
              <a:rPr lang="en-US" sz="2600" dirty="0" err="1"/>
              <a:t>almacén</a:t>
            </a:r>
            <a:r>
              <a:rPr lang="en-US" sz="2600" dirty="0"/>
              <a:t> de </a:t>
            </a:r>
            <a:r>
              <a:rPr lang="en-US" sz="2600" dirty="0" err="1"/>
              <a:t>datos</a:t>
            </a:r>
            <a:r>
              <a:rPr lang="en-US" sz="2600" dirty="0"/>
              <a:t> de </a:t>
            </a:r>
            <a:r>
              <a:rPr lang="en-US" sz="2600" dirty="0" err="1"/>
              <a:t>arranque</a:t>
            </a:r>
            <a:r>
              <a:rPr lang="en-US" sz="2600" dirty="0"/>
              <a:t> (BCD), </a:t>
            </a:r>
            <a:r>
              <a:rPr lang="en-US" sz="2600" dirty="0" err="1"/>
              <a:t>utilizado</a:t>
            </a:r>
            <a:r>
              <a:rPr lang="en-US" sz="2600" dirty="0"/>
              <a:t> </a:t>
            </a:r>
            <a:r>
              <a:rPr lang="en-US" sz="2600" dirty="0" err="1"/>
              <a:t>por</a:t>
            </a:r>
            <a:r>
              <a:rPr lang="en-US" sz="2600" dirty="0"/>
              <a:t> Windows Boot Manager</a:t>
            </a:r>
            <a:r>
              <a:rPr lang="es-ES" sz="26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BCDEDIT [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comando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endParaRPr lang="es-ES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Listar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entradas: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BCDEDIT /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Cambiar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temporizador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BCDEDIT /timeout 10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Activar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modo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legado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BCDEDIT /set {default} </a:t>
            </a:r>
            <a:r>
              <a:rPr lang="en-US" sz="2600" dirty="0" err="1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bootmenupolicy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legacy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86197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33561-28DC-A10D-0B6B-C934160F9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AE6864A-0090-6A9F-3E80-5298655AD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E63A22-CCA9-CA7F-8AF0-AC596E459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B60146-6470-2B35-ABB2-DE0EA0142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2FCE01-9049-9103-8811-0B2231819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A58877-5CBA-4F92-BB24-D06677526A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78AB892-AA2D-8AF7-062B-0BE69A561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783F52-E77A-6391-D38C-226671BF1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EBA-A6F1-E75D-E9BF-F1FD4314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BCDEDIT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14F00-7D1B-3693-5113-57C46DF13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Lista la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configuración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actual de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arranque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documenta las entradas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principales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Simula un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arranque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alternativo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creando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una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entrada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duplicada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Analiza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riesgos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precauciones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del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uso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BCDEDIT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9336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3D5795-13D3-9A66-9195-6DC44930A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799021-E520-B00C-0710-656CEE64A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E4E40BA-D72F-D30E-74CE-DC40E5417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E48D884-1B45-DD4D-269D-8F7DD3D455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D24CE2-A668-4395-0A20-95B77E7BA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A8404-A3C6-64D9-A483-025054D7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CC877D0-18D0-8E12-A9A9-74C9B956E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46EB97-4380-3B0A-B192-9368F4C07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9E9E79-FDA5-7E54-9970-908FE47B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DISKPART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2CE31-8D26-2F71-2315-03A6B39AF5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 lnSpcReduction="10000"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DISKPART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Herramienta</a:t>
            </a:r>
            <a:r>
              <a:rPr lang="en-US" sz="2600" dirty="0"/>
              <a:t> </a:t>
            </a:r>
            <a:r>
              <a:rPr lang="en-US" sz="2600" dirty="0" err="1"/>
              <a:t>interactiva</a:t>
            </a:r>
            <a:r>
              <a:rPr lang="en-US" sz="2600" dirty="0"/>
              <a:t> para </a:t>
            </a:r>
            <a:r>
              <a:rPr lang="en-US" sz="2600" dirty="0" err="1"/>
              <a:t>administrar</a:t>
            </a:r>
            <a:r>
              <a:rPr lang="en-US" sz="2600" dirty="0"/>
              <a:t> discos, </a:t>
            </a:r>
            <a:r>
              <a:rPr lang="en-US" sz="2600" dirty="0" err="1"/>
              <a:t>particiones</a:t>
            </a:r>
            <a:r>
              <a:rPr lang="en-US" sz="2600" dirty="0"/>
              <a:t> y </a:t>
            </a:r>
            <a:r>
              <a:rPr lang="en-US" sz="2600" dirty="0" err="1"/>
              <a:t>volúmenes</a:t>
            </a:r>
            <a:r>
              <a:rPr lang="es-ES" sz="26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DISKPART</a:t>
            </a:r>
            <a:endParaRPr lang="es-ES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Entrar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al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intérprete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DISKPART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Listar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discos: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 disk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Seleccionar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disco: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select disk 1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6797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9C7F13-7B36-D07B-03B7-85E7029F4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C09D783-4F4B-F7E7-9489-D3E33777C9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171552-B48F-743B-8894-84186BDEF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2A985D-48F7-43A8-914E-8B62502BD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330C1F-826C-935A-E188-0E4B9D3C2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BDDA97-13CB-D4A9-8009-24C574CAC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6AE740-A2AC-A5D1-8A83-EF393652F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B415AA-D55E-C251-62C6-2B54E22F2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532D34-46EB-01FD-9852-F8E0D9577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DISKPART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B65E7-A525-C19D-F4A3-353A03A15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Abre DISKPART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en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modo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seguro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(sin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modificar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nada)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lista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discos y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volúmenes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Investiga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comandos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como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 partition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o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assign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464646"/>
                </a:solidFill>
                <a:latin typeface="Consolas"/>
              </a:rPr>
              <a:t>Analiza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diferencias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entre discos MBR y GPT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324548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E17BE4-CA23-A9D8-1EC3-2A0D03B36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73A3CE9-1296-69CA-C327-D428CD3F9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F20F676-FCF1-AE0B-00F2-70F5576D8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474E9-F47E-D41F-B2FF-9410B666E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0A1F3C-748B-DC10-1A9E-652E1D565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BFF0E2-272C-BE38-64FD-3C2CC6F0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56ED889-BFCE-26CA-FC4F-FA99200F7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4E86A6-FE1B-A2B3-D746-DF30BD3E2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8C52B1-2764-C3A7-F032-76B1B44F3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800" dirty="0">
                <a:solidFill>
                  <a:srgbClr val="FFFFFF"/>
                </a:solidFill>
              </a:rPr>
              <a:t>🧱 </a:t>
            </a:r>
            <a:r>
              <a:rPr lang="es-ES_tradnl" sz="2400" dirty="0">
                <a:solidFill>
                  <a:srgbClr val="FFFFFF"/>
                </a:solidFill>
              </a:rPr>
              <a:t>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SHUTDOWN </a:t>
            </a:r>
            <a:endParaRPr lang="es-ES_tradnl" sz="25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44C39-462E-7784-FAD3-B73A608F5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1522" y="10139"/>
            <a:ext cx="5802161" cy="669145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s-ES_tradnl" sz="2800" dirty="0"/>
              <a:t>🖥 SHUTDOWN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/>
              <a:t>Apaga</a:t>
            </a:r>
            <a:r>
              <a:rPr lang="en-US" sz="2600" dirty="0"/>
              <a:t>, </a:t>
            </a:r>
            <a:r>
              <a:rPr lang="en-US" sz="2600" dirty="0" err="1"/>
              <a:t>reinicia</a:t>
            </a:r>
            <a:r>
              <a:rPr lang="en-US" sz="2600" dirty="0"/>
              <a:t> o </a:t>
            </a:r>
            <a:r>
              <a:rPr lang="en-US" sz="2600" dirty="0" err="1"/>
              <a:t>programa</a:t>
            </a:r>
            <a:r>
              <a:rPr lang="en-US" sz="2600" dirty="0"/>
              <a:t> </a:t>
            </a:r>
            <a:r>
              <a:rPr lang="en-US" sz="2600" dirty="0" err="1"/>
              <a:t>el</a:t>
            </a:r>
            <a:r>
              <a:rPr lang="en-US" sz="2600" dirty="0"/>
              <a:t> </a:t>
            </a:r>
            <a:r>
              <a:rPr lang="en-US" sz="2600" dirty="0" err="1"/>
              <a:t>apagado</a:t>
            </a:r>
            <a:r>
              <a:rPr lang="en-US" sz="2600" dirty="0"/>
              <a:t> del </a:t>
            </a:r>
            <a:r>
              <a:rPr lang="en-US" sz="2600" dirty="0" err="1"/>
              <a:t>sistema</a:t>
            </a:r>
            <a:r>
              <a:rPr lang="es-ES" sz="2600" dirty="0"/>
              <a:t>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endParaRPr lang="es-ES_tradnl" sz="20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🧾 Sintaxis básica</a:t>
            </a:r>
          </a:p>
          <a:p>
            <a:pPr marL="0" indent="0">
              <a:buNone/>
            </a:pP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SHUTDOWN /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opciones</a:t>
            </a:r>
            <a:endParaRPr lang="es-ES" sz="2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s-ES_tradnl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💡 Ejemplos prácticos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 err="1">
                <a:solidFill>
                  <a:srgbClr val="464646"/>
                </a:solidFill>
                <a:latin typeface="Consolas"/>
              </a:rPr>
              <a:t>Apagar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inmediatamente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SHUTDOWN /s /t 0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Reiniciar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el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sistema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SHUTDOWN /r /t 0</a:t>
            </a:r>
            <a:endParaRPr lang="es-ES" sz="2600" dirty="0">
              <a:solidFill>
                <a:srgbClr val="46464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nsolas"/>
              </a:rPr>
              <a:t>•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Cancelar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600" dirty="0" err="1">
                <a:solidFill>
                  <a:srgbClr val="464646"/>
                </a:solidFill>
                <a:latin typeface="Consolas"/>
              </a:rPr>
              <a:t>apagado</a:t>
            </a:r>
            <a:r>
              <a:rPr lang="en-US" sz="2600" dirty="0">
                <a:solidFill>
                  <a:srgbClr val="464646"/>
                </a:solidFill>
                <a:latin typeface="Consolas"/>
              </a:rPr>
              <a:t>: → </a:t>
            </a:r>
          </a:p>
          <a:p>
            <a:pPr marL="0" indent="0">
              <a:buNone/>
              <a:defRPr sz="2600">
                <a:solidFill>
                  <a:srgbClr val="464646"/>
                </a:solidFill>
                <a:latin typeface="Consolas"/>
              </a:defRPr>
            </a:pPr>
            <a:r>
              <a:rPr lang="en-U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SHUTDOWN /a</a:t>
            </a:r>
            <a:r>
              <a:rPr lang="es-ES" sz="26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86632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A5534E-94FE-B8AB-21A8-B7B5AF633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270C73-D8C1-EA75-DC17-14C5D71E07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B09723B-960B-2EC7-4412-50C123607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6B8F98-9056-A86B-C94A-8AA8A9135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4058CD-946B-F11A-38E5-68F07CDA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CDCC38-67C2-01B1-83E1-E5031FF08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07D492E-05D9-BEED-DD5F-6737918CC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ES_tradnl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E8814F-3CD5-A5FA-92EA-B917EC3CD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73BA8-A160-D020-DFF1-A723D1FCC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668" y="948243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3600">
                <a:solidFill>
                  <a:srgbClr val="323232"/>
                </a:solidFill>
              </a:defRPr>
            </a:pPr>
            <a:r>
              <a:rPr lang="es-ES_tradnl" sz="2400" dirty="0">
                <a:solidFill>
                  <a:srgbClr val="FFFFFF"/>
                </a:solidFill>
              </a:rPr>
              <a:t>🧱 Información del sistema y administración del equipo: </a:t>
            </a:r>
            <a:br>
              <a:rPr lang="es-ES_tradnl" sz="2400" dirty="0">
                <a:solidFill>
                  <a:srgbClr val="FFFFFF"/>
                </a:solidFill>
              </a:rPr>
            </a:br>
            <a:r>
              <a:rPr lang="es-ES_tradnl" sz="2400" dirty="0">
                <a:solidFill>
                  <a:srgbClr val="FFFFFF"/>
                </a:solidFill>
              </a:rPr>
              <a:t>SHUTDOWN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B9AF4-B3D8-72F1-3A71-E6C6F675E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6495" y="252664"/>
            <a:ext cx="5763126" cy="6485020"/>
          </a:xfrm>
        </p:spPr>
        <p:txBody>
          <a:bodyPr anchor="ctr">
            <a:normAutofit/>
          </a:bodyPr>
          <a:lstStyle/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🧪 Ejercicio guiado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Programa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un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apagado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temporizador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de 30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segundos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y luego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cancélalo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endParaRPr lang="es-ES_tradnl" sz="2400" dirty="0">
              <a:solidFill>
                <a:srgbClr val="464646"/>
              </a:solidFill>
              <a:latin typeface="Consolas"/>
            </a:endParaRPr>
          </a:p>
          <a:p>
            <a:pPr>
              <a:defRPr sz="2600">
                <a:solidFill>
                  <a:srgbClr val="464646"/>
                </a:solidFill>
              </a:defRPr>
            </a:pPr>
            <a:r>
              <a:rPr lang="es-ES_tradnl" sz="2800" dirty="0"/>
              <a:t>🔍 Ejercicios de profundización</a:t>
            </a: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Prueba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/hybrid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para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apagado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híbrido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.</a:t>
            </a:r>
            <a:endParaRPr lang="es-ES" sz="2400" dirty="0">
              <a:solidFill>
                <a:srgbClr val="464646"/>
              </a:solidFill>
              <a:latin typeface="Consolas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464646"/>
                </a:solidFill>
                <a:latin typeface="Consolas"/>
              </a:rPr>
              <a:t>Configura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mensajes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</a:t>
            </a:r>
            <a:r>
              <a:rPr lang="en-US" sz="2400" dirty="0" err="1">
                <a:solidFill>
                  <a:srgbClr val="464646"/>
                </a:solidFill>
                <a:latin typeface="Consolas"/>
              </a:rPr>
              <a:t>personalizados</a:t>
            </a:r>
            <a:r>
              <a:rPr lang="en-US" sz="2400" dirty="0">
                <a:solidFill>
                  <a:srgbClr val="464646"/>
                </a:solidFill>
                <a:latin typeface="Consolas"/>
              </a:rPr>
              <a:t> con </a:t>
            </a:r>
            <a:r>
              <a:rPr lang="en-US" sz="2400" dirty="0">
                <a:solidFill>
                  <a:srgbClr val="46464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/c</a:t>
            </a:r>
            <a:r>
              <a:rPr lang="es-ES" sz="2400" dirty="0">
                <a:solidFill>
                  <a:srgbClr val="464646"/>
                </a:solidFill>
                <a:latin typeface="Consola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4562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2424</Words>
  <Application>Microsoft Macintosh PowerPoint</Application>
  <PresentationFormat>Presentación en pantalla (4:3)</PresentationFormat>
  <Paragraphs>418</Paragraphs>
  <Slides>43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43</vt:i4>
      </vt:variant>
    </vt:vector>
  </HeadingPairs>
  <TitlesOfParts>
    <vt:vector size="49" baseType="lpstr">
      <vt:lpstr>Aptos</vt:lpstr>
      <vt:lpstr>Arial</vt:lpstr>
      <vt:lpstr>Calibri</vt:lpstr>
      <vt:lpstr>Consolas</vt:lpstr>
      <vt:lpstr>Courier New</vt:lpstr>
      <vt:lpstr>Office Theme</vt:lpstr>
      <vt:lpstr>MS‑DOS Básico, CMD y PowerShell (Windows 11)</vt:lpstr>
      <vt:lpstr> Gestión avanzada de archivos y carpetas: ROBOCOPY </vt:lpstr>
      <vt:lpstr> Gestión avanzada de archivos y carpetas: ROBOCOPY </vt:lpstr>
      <vt:lpstr> Gestión avanzada de archivos y carpetas: XCOPY </vt:lpstr>
      <vt:lpstr> Gestión avanzada de archivos y carpetas: XCOPY </vt:lpstr>
      <vt:lpstr> Gestión avanzada de archivos y carpetas: REPLACE </vt:lpstr>
      <vt:lpstr> Gestión avanzada de archivos y carpetas: REPLACE </vt:lpstr>
      <vt:lpstr>Presentación de PowerPoint</vt:lpstr>
      <vt:lpstr>Presentación de PowerPoint</vt:lpstr>
      <vt:lpstr>🧱 Gestión avanzada de archivos y carpetas: FC </vt:lpstr>
      <vt:lpstr>🧱 Gestión avanzada de archivos y carpetas: FC </vt:lpstr>
      <vt:lpstr>🧱 Gestión avanzada de archivos y carpetas:  FIND </vt:lpstr>
      <vt:lpstr>🧱 Gestión avanzada de archivos y carpetas:  FIND </vt:lpstr>
      <vt:lpstr>🧱 Gestión avanzada de archivos y carpetas:  FINDSTR </vt:lpstr>
      <vt:lpstr>🧱 Gestión avanzada de archivos y carpetas:  FINDSTR </vt:lpstr>
      <vt:lpstr>🧱 Gestión avanzada de archivos y carpetas:  MORE </vt:lpstr>
      <vt:lpstr>🧱 Gestión avanzada de archivos y carpetas:  MORE </vt:lpstr>
      <vt:lpstr>🧱 Gestión avanzada de archivos y carpetas:  PRINT </vt:lpstr>
      <vt:lpstr>🧱 Gestión avanzada de archivos y carpetas:  PRINT </vt:lpstr>
      <vt:lpstr>🧱 Gestión avanzada de archivos y carpetas:  TREE </vt:lpstr>
      <vt:lpstr>🧱 Gestión avanzada de archivos y carpetas:  TREE </vt:lpstr>
      <vt:lpstr>🧱 Información del sistema y administración del equipo:  SYSTEMINFO </vt:lpstr>
      <vt:lpstr>🧱 Información del sistema y administración del equipo:  SYSTEMINFO </vt:lpstr>
      <vt:lpstr>🧱 Información del sistema y administración del equipo:  VOL </vt:lpstr>
      <vt:lpstr>🧱 Información del sistema y administración del equipo:  VOL </vt:lpstr>
      <vt:lpstr>🧱 Información del sistema y administración del equipo:  VERIFY </vt:lpstr>
      <vt:lpstr>🧱 Información del sistema y administración del equipo:  VERIFY </vt:lpstr>
      <vt:lpstr>🧱 Información del sistema y administración del equipo:  MODE </vt:lpstr>
      <vt:lpstr>🧱 Información del sistema y administración del equipo:  MODE </vt:lpstr>
      <vt:lpstr>🧱 Información del sistema y administración del equipo:  CHCP </vt:lpstr>
      <vt:lpstr>🧱 Información del sistema y administración del equipo:  CHCP </vt:lpstr>
      <vt:lpstr>🧱 Información del sistema y administración del equipo:  CHKNTFS </vt:lpstr>
      <vt:lpstr>🧱 Información del sistema y administración del equipo:  CHKNTFS </vt:lpstr>
      <vt:lpstr>🧱 Información del sistema y administración del equipo:  DRIVERQUERY </vt:lpstr>
      <vt:lpstr>🧱 Información del sistema y administración del equipo:  DRIVERQUERY </vt:lpstr>
      <vt:lpstr>🧱 Información del sistema y administración del equipo:  FSUTIL </vt:lpstr>
      <vt:lpstr>🧱 Información del sistema y administración del equipo:  FSUTIL </vt:lpstr>
      <vt:lpstr>🧱 Información del sistema y administración del equipo:  BCDEDIT </vt:lpstr>
      <vt:lpstr>🧱 Información del sistema y administración del equipo:  BCDEDIT </vt:lpstr>
      <vt:lpstr>🧱 Información del sistema y administración del equipo:  DISKPART </vt:lpstr>
      <vt:lpstr>🧱 Información del sistema y administración del equipo:  DISKPART </vt:lpstr>
      <vt:lpstr>🧱 Información del sistema y administración del equipo:  SHUTDOWN </vt:lpstr>
      <vt:lpstr>🧱 Información del sistema y administración del equipo:  SHUTDOWN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Iñigo Aranburu Rego</cp:lastModifiedBy>
  <cp:revision>22</cp:revision>
  <dcterms:created xsi:type="dcterms:W3CDTF">2013-01-27T09:14:16Z</dcterms:created>
  <dcterms:modified xsi:type="dcterms:W3CDTF">2025-12-09T08:50:52Z</dcterms:modified>
  <cp:category/>
</cp:coreProperties>
</file>