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318" r:id="rId3"/>
    <p:sldId id="31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20" r:id="rId58"/>
    <p:sldId id="321" r:id="rId59"/>
    <p:sldId id="313" r:id="rId60"/>
    <p:sldId id="314" r:id="rId61"/>
    <p:sldId id="315" r:id="rId62"/>
    <p:sldId id="316" r:id="rId63"/>
    <p:sldId id="317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7"/>
    <p:restoredTop sz="94672"/>
  </p:normalViewPr>
  <p:slideViewPr>
    <p:cSldViewPr snapToGrid="0" snapToObjects="1">
      <p:cViewPr varScale="1">
        <p:scale>
          <a:sx n="134" d="100"/>
          <a:sy n="134" d="100"/>
        </p:scale>
        <p:origin x="21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D98D-45F1-C34C-BD3A-96F4CAC71195}" type="datetimeFigureOut">
              <a:rPr lang="es-ES_tradnl" smtClean="0"/>
              <a:t>5/12/25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175FA-C4C8-A846-BAF6-DBB1D529CA9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76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175FA-C4C8-A846-BAF6-DBB1D529CA9A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1533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  <a:defRPr sz="4400">
                <a:solidFill>
                  <a:srgbClr val="282828"/>
                </a:solidFill>
              </a:defRPr>
            </a:pPr>
            <a:r>
              <a:rPr lang="es-ES" sz="2700">
                <a:solidFill>
                  <a:schemeClr val="tx2"/>
                </a:solidFill>
              </a:rPr>
              <a:t>MS‑DOS Básico, CMD y PowerShell (Windows 11)</a:t>
            </a:r>
          </a:p>
        </p:txBody>
      </p:sp>
      <p:pic>
        <p:nvPicPr>
          <p:cNvPr id="6" name="Graphic 5" descr="Ordenador">
            <a:extLst>
              <a:ext uri="{FF2B5EF4-FFF2-40B4-BE49-F238E27FC236}">
                <a16:creationId xmlns:a16="http://schemas.microsoft.com/office/drawing/2014/main" id="{FC88AE6B-0568-210A-B53A-A703C2FA9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9FCDC-94F9-71BB-5A27-B4359367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B592D-DA65-A8FE-BB2F-4494F67C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INTRODUCCIÓN A MS-DOS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6EC0-34D6-0CFE-A215-073AD86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🖥 ¿Qué es MS-DOS?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MS-DOS (Microsoft Disk </a:t>
            </a:r>
            <a:r>
              <a:rPr lang="es-ES" sz="1800" dirty="0" err="1"/>
              <a:t>Operating</a:t>
            </a:r>
            <a:r>
              <a:rPr lang="es-ES" sz="1800" dirty="0"/>
              <a:t> </a:t>
            </a:r>
            <a:r>
              <a:rPr lang="es-ES" sz="1800" dirty="0" err="1"/>
              <a:t>System</a:t>
            </a:r>
            <a:r>
              <a:rPr lang="es-ES" sz="1800" dirty="0"/>
              <a:t>) es un sistema operativo de línea de comandos que fue ampliamente utilizado antes de los entornos gráficos como Windows.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Permite interactuar directamente con la computadora mediante comandos escritos, ofreciendo un control detallado sobre el sistema.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🧾 </a:t>
            </a:r>
            <a:r>
              <a:rPr lang="es-ES" sz="2800" dirty="0">
                <a:latin typeface="Consolas"/>
              </a:rPr>
              <a:t>Características principales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latin typeface="Consolas"/>
              </a:rPr>
              <a:t>Interfaz basada en texto (línea de comandos).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latin typeface="Consolas"/>
              </a:rPr>
              <a:t>Bajo consumo de recursos.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latin typeface="Consolas"/>
              </a:rPr>
              <a:t>Permite gestionar archivos, carpetas, discos y dispositivos.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latin typeface="Consolas"/>
              </a:rPr>
              <a:t>Sistema monousuario y monotarea.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latin typeface="Consolas"/>
              </a:rPr>
              <a:t>Compatible con disquetes, discos duros y dispositivos externos.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Utilizado en </a:t>
            </a:r>
            <a:r>
              <a:rPr lang="es-ES" sz="1800" dirty="0" err="1">
                <a:latin typeface="Consolas"/>
              </a:rPr>
              <a:t>PCs</a:t>
            </a:r>
            <a:r>
              <a:rPr lang="es-ES" sz="1800" dirty="0">
                <a:latin typeface="Consolas"/>
              </a:rPr>
              <a:t> IBM y compatibles.</a:t>
            </a:r>
          </a:p>
        </p:txBody>
      </p:sp>
    </p:spTree>
    <p:extLst>
      <p:ext uri="{BB962C8B-B14F-4D97-AF65-F5344CB8AC3E}">
        <p14:creationId xmlns:p14="http://schemas.microsoft.com/office/powerpoint/2010/main" val="402328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8BDB7-AA77-7869-721D-BE922D2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E6EC0-0C11-0B1A-4FDA-E3E35A52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INTRODUCCIÓN A MS-DOS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AA97-EE16-1510-F528-D8252BC8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411" y="288758"/>
            <a:ext cx="5415547" cy="63045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📌 Elementos clave del entorno MS-DOS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 err="1"/>
              <a:t>Prompt</a:t>
            </a:r>
            <a:r>
              <a:rPr lang="es-ES" sz="2000" dirty="0"/>
              <a:t> del sistema: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Es la línea donde se escriben los comandos, normalmente aparece como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C:\&gt;</a:t>
            </a:r>
            <a:r>
              <a:rPr lang="es-ES" sz="1700" dirty="0"/>
              <a:t> o similar.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nsolas"/>
              </a:rPr>
              <a:t>Comandos internos: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Cargados con el sistema operativo, por ejemplo: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700" dirty="0"/>
              <a:t>,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s-ES" sz="1700" dirty="0"/>
              <a:t>,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s-ES" sz="17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nsolas"/>
              </a:rPr>
              <a:t>Comandos externos: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Requieren archivos ejecutables en el disco, como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s-ES" sz="1700" dirty="0"/>
              <a:t>,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CHKDSK</a:t>
            </a:r>
            <a:r>
              <a:rPr lang="es-ES" sz="17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nsolas"/>
              </a:rPr>
              <a:t>Ficheros de configuración: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CONFIG.SYS</a:t>
            </a:r>
            <a:r>
              <a:rPr lang="es-ES" sz="1700" dirty="0"/>
              <a:t>: configura dispositivos.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AUTOEXEC.BAT</a:t>
            </a:r>
            <a:r>
              <a:rPr lang="es-ES" sz="1700" dirty="0"/>
              <a:t>: ejecuta comandos al inicio.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224673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 dirty="0">
                <a:solidFill>
                  <a:srgbClr val="FFFFFF"/>
                </a:solidFill>
              </a:rPr>
              <a:t>INTRODUCCIÓN A MS-DOS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192505"/>
            <a:ext cx="5862419" cy="6497053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🧪 </a:t>
            </a:r>
            <a:r>
              <a:rPr lang="es-ES" sz="2400" dirty="0">
                <a:latin typeface="Consolas"/>
              </a:rPr>
              <a:t>Ejercicios guiados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Inicia el símbolo del sistema (emulador o consola real de DOS).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Observa el </a:t>
            </a:r>
            <a:r>
              <a:rPr lang="es-ES" sz="1800" dirty="0" err="1"/>
              <a:t>prompt</a:t>
            </a:r>
            <a:r>
              <a:rPr lang="es-ES" sz="1800" dirty="0"/>
              <a:t> actual, por ejemplo: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C:\&gt;</a:t>
            </a:r>
            <a:r>
              <a:rPr lang="es-ES" sz="1800" dirty="0"/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Escribe 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800" dirty="0"/>
              <a:t> para ver el contenido del directorio actual.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Escribe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s-ES" sz="1800" dirty="0">
                <a:latin typeface="Consolas"/>
              </a:rPr>
              <a:t> y luego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s-ES" sz="1800" dirty="0">
                <a:latin typeface="Consolas"/>
              </a:rPr>
              <a:t> para consultar la fecha y hora del sistema.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>
                <a:latin typeface="Consolas"/>
              </a:rPr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Escribe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</a:t>
            </a:r>
            <a:r>
              <a:rPr lang="es-ES" sz="1800" dirty="0">
                <a:latin typeface="Consolas"/>
              </a:rPr>
              <a:t> para comprobar la versión del sistema operativo.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Accede a la ayuda de comandos internos escribiendo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es-ES" sz="1800" dirty="0">
                <a:latin typeface="Consolas"/>
              </a:rPr>
              <a:t> 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NOMBRE_COMANDO /?</a:t>
            </a:r>
            <a:r>
              <a:rPr lang="es-ES" sz="1800" dirty="0">
                <a:latin typeface="Consolas"/>
              </a:rPr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Identifica cuáles comandos son internos y cuáles requieren un archivo externo.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2: COMANDO 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8368" y="252663"/>
            <a:ext cx="5847348" cy="64729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🖥 ¿Qué hace el comando 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s-ES" sz="2400" dirty="0"/>
              <a:t>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s-ES" sz="1800" dirty="0"/>
              <a:t> sirve para mostrar o modificar la fecha del sistema operativo. La fecha del sistema influye en los registros de creación, modificación y acceso de archivos, por lo que es importante mantenerla actualizada.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 [mm-</a:t>
            </a:r>
            <a:r>
              <a:rPr lang="es-ES" sz="18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s-ES" sz="18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yy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Si se escribe sin parámetros, solicita al usuario la nueva fecha o permite mantener la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La fecha se introduce en formato anglosajón: mes-día-año.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400" dirty="0">
                <a:solidFill>
                  <a:srgbClr val="464646"/>
                </a:solidFill>
              </a:rPr>
              <a:t>💡 Ejemplos prácticos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s-ES" sz="1600" dirty="0"/>
              <a:t> → Muestra la fecha actual y pregunta si se desea cambiarla.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 11-04-25 </a:t>
            </a:r>
            <a:r>
              <a:rPr lang="es-ES" sz="1600" dirty="0"/>
              <a:t>→ Cambia la fecha del sistema al 4 de noviembre de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1E7EDE-CB4A-402F-B0FB-8640C3589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BBEB8-4077-499F-80FD-AA9827A8D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796" y="608243"/>
            <a:ext cx="2535154" cy="54450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593" y="1005303"/>
            <a:ext cx="1524367" cy="4427309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rPr lang="es-ES" sz="1500">
                <a:solidFill>
                  <a:schemeClr val="bg1"/>
                </a:solidFill>
              </a:rPr>
              <a:t>🧱 BLOQUE 2: COMANDO DATE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2748" y="804681"/>
            <a:ext cx="5594684" cy="505469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Escribe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s-ES" sz="1800" dirty="0"/>
              <a:t> y presiona </a:t>
            </a:r>
            <a:r>
              <a:rPr lang="es-ES" sz="1800" dirty="0" err="1"/>
              <a:t>Enter</a:t>
            </a:r>
            <a:r>
              <a:rPr lang="es-ES" sz="18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Cuando el sistema muestre la fecha actual, introduce una nueva, por ejemplo: 01-01-22.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Verifica que la fecha cambió correctamente repitiendo 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s-ES" sz="18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🔍 Ejercicios de profundización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Cambia la fecha a una fecha antigua (por ejemplo, 12-12-2000) y crea un archivo con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COPY CON</a:t>
            </a:r>
            <a:r>
              <a:rPr lang="es-ES" sz="1800" dirty="0"/>
              <a:t>. Luego, usa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800" dirty="0"/>
              <a:t> para observar la marca de tiempo.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Intenta introducir una fecha inválida como 99-99-99 y analiza la respuesta del sistema.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strike="sngStrike" dirty="0"/>
              <a:t>Utiliza DATE dentro de un archivo </a:t>
            </a:r>
            <a:r>
              <a:rPr lang="es-ES" sz="1800" strike="sngStrike" dirty="0" err="1"/>
              <a:t>batch</a:t>
            </a:r>
            <a:r>
              <a:rPr lang="es-ES" sz="1800" strike="sngStrike" dirty="0"/>
              <a:t> (.BAT) y observa cómo interactúa en procesos automatizados.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B7728-0C26-4662-B285-85C645523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5331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C367AD-9838-470A-87EF-678609CC8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935205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CF1642-4E76-4223-A010-6334380A2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236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3: COMANDO 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🖥 ¿Qué hace el comando 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s-ES" sz="2400" dirty="0"/>
              <a:t>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El comando 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s-ES" sz="1600" dirty="0"/>
              <a:t> permite consultar o modificar la hora del sistema. La hora actual afecta al registro de creación y modificación de archivos, y es fundamental para mantener la integridad cronológica de los procesos.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TIME [</a:t>
            </a:r>
            <a:r>
              <a:rPr lang="es-E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hh:mm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solidFill>
                  <a:srgbClr val="464646"/>
                </a:solidFill>
                <a:latin typeface="Consolas"/>
              </a:rPr>
              <a:t>Si se ejecuta sin parámetros, muestra la hora actual y solicita una nueva.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solidFill>
                  <a:srgbClr val="464646"/>
                </a:solidFill>
                <a:latin typeface="Consolas"/>
              </a:rPr>
              <a:t>Admite formato de 24 horas (14:30) o de 12 horas (2:30p).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s-ES" sz="1600" dirty="0"/>
              <a:t> → Muestra la hora actual. Si se presiona </a:t>
            </a:r>
            <a:r>
              <a:rPr lang="es-ES" sz="1600" dirty="0" err="1"/>
              <a:t>Enter</a:t>
            </a:r>
            <a:r>
              <a:rPr lang="es-ES" sz="1600" dirty="0"/>
              <a:t> sin introducir una nueva, se mantiene la actual.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08:45 </a:t>
            </a:r>
            <a:r>
              <a:rPr lang="es-ES" sz="1600" dirty="0"/>
              <a:t>→ Cambia la hora a las 8:45 AM.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4:15p </a:t>
            </a:r>
            <a:r>
              <a:rPr lang="es-ES" sz="1600" dirty="0"/>
              <a:t>→ Cambia la hora a las 4:15 PM, usando el formato de 12 horas.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3: COMANDO TIME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Escribe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s-ES" sz="1800" dirty="0"/>
              <a:t> en el símbolo del sistema.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Cuando se muestre la hora actual, escribe una nueva (por ejemplo, 10:00) y presiona </a:t>
            </a:r>
            <a:r>
              <a:rPr lang="es-ES" sz="1800" dirty="0" err="1"/>
              <a:t>Enter</a:t>
            </a:r>
            <a:r>
              <a:rPr lang="es-ES" sz="1800" dirty="0"/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Confirma el cambio ejecutando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s-ES" sz="1800" dirty="0"/>
              <a:t> de nuevo.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Cambia la hora a 23:59, crea un archivo con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</a:t>
            </a:r>
            <a:r>
              <a:rPr lang="es-ES" sz="1800" dirty="0"/>
              <a:t>, y observa con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800" dirty="0"/>
              <a:t> si se asignó correctamente la hora.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Intenta cambiar la hora usando formato incorrecto (25:00) y analiza cómo responde el sistema.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Automatiza un cambio de hora en un archivo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.BAT </a:t>
            </a:r>
            <a:r>
              <a:rPr lang="es-ES" sz="1800" dirty="0"/>
              <a:t>(precaución: esto puede afectar procesos del sistema si se ejecuta en un entorno real).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500">
                <a:solidFill>
                  <a:srgbClr val="FFFFFF"/>
                </a:solidFill>
              </a:rPr>
              <a:t>🧱 BLOQUE 4: ¿QUÉ ES UN ARCHIVO?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264695"/>
            <a:ext cx="5549021" cy="6412831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🖥 Definición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Un archivo en MS-DOS es una unidad de almacenamiento que contiene datos o instrucciones.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Puede tratarse de un documento de texto, un programa ejecutable, una imagen, una configuración, etc.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📄 Tipos comunes de archivos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.TXT </a:t>
            </a:r>
            <a:r>
              <a:rPr lang="es-ES" sz="2000" dirty="0"/>
              <a:t>→ Texto plano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.DOC </a:t>
            </a:r>
            <a:r>
              <a:rPr lang="es-ES" sz="2000" dirty="0"/>
              <a:t>→ Documento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.EXE</a:t>
            </a:r>
            <a:r>
              <a:rPr lang="es-ES" sz="2000" dirty="0"/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.COM </a:t>
            </a:r>
            <a:r>
              <a:rPr lang="es-ES" sz="2000" dirty="0"/>
              <a:t>→ Programas ejecutables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.BAT </a:t>
            </a:r>
            <a:r>
              <a:rPr lang="es-ES" sz="2000" dirty="0"/>
              <a:t>→ Archivos por lotes (scripts de comandos)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.SYS </a:t>
            </a:r>
            <a:r>
              <a:rPr lang="es-ES" sz="2000" dirty="0"/>
              <a:t>→ Archivos del sistema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500">
                <a:solidFill>
                  <a:srgbClr val="FFFFFF"/>
                </a:solidFill>
              </a:rPr>
              <a:t>🧱 BLOQUE 4: ¿QUÉ ES UN ARCHIVO?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📌 Nomenclatura en MS-DOS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Los archivos se nombran como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NOMBRE.EXT</a:t>
            </a:r>
            <a:r>
              <a:rPr lang="es-ES" sz="1800" dirty="0"/>
              <a:t>, donde: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NOMBRE</a:t>
            </a:r>
            <a:r>
              <a:rPr lang="es-ES" sz="1800" dirty="0"/>
              <a:t>: máximo 8 caracteres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</a:t>
            </a:r>
            <a:r>
              <a:rPr lang="es-ES" sz="1800" dirty="0"/>
              <a:t>: extensión de hasta 3 caracteres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Ejemplos: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FACTURA.TXT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AUTOEXEC.BAT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CONFIG.SYS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⚠️ Nombres prohibidos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Algunos nombres están reservados por el sistema y no pueden usarse como nombre de archivo: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</a:t>
            </a:r>
            <a:r>
              <a:rPr lang="es-ES" sz="1800" dirty="0"/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PRN</a:t>
            </a:r>
            <a:r>
              <a:rPr lang="es-ES" sz="1800" dirty="0"/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es-ES" sz="1800" dirty="0"/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</a:t>
            </a:r>
            <a:r>
              <a:rPr lang="es-ES" sz="1800" dirty="0"/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COM1</a:t>
            </a:r>
            <a:r>
              <a:rPr lang="es-ES" sz="1800" dirty="0"/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LPT1</a:t>
            </a:r>
            <a:r>
              <a:rPr lang="es-ES" sz="1800" dirty="0"/>
              <a:t>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500">
                <a:solidFill>
                  <a:srgbClr val="FFFFFF"/>
                </a:solidFill>
              </a:rPr>
              <a:t>🧱 BLOQUE 4: ¿QUÉ ES UN ARCHIVO?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425" y="252664"/>
            <a:ext cx="5579195" cy="640080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En el símbolo del sistema, escribe: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NOTA.TXT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Escribe cualquier texto (por ejemplo, Este es un archivo de prueba.)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Pulsa </a:t>
            </a:r>
            <a:r>
              <a:rPr lang="es-ES" sz="18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Ctrl+Z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 y luego 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Enter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 para guardar.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Verifica que se creó con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4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Intenta crear un archivo con el nombre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CON.TXT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 y observa qué error aparece.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Crea archivos con extensiones distintas (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.BAT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.EXE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) y observa si cambian de comportamiento al ejecutarse.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Usa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 para visualizar el contenido de archivos de texto.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500">
                <a:solidFill>
                  <a:srgbClr val="FFFFFF"/>
                </a:solidFill>
              </a:rPr>
              <a:t>🧱 BLOQUE 5: NOMBRE Y EXTENSIÓN DE ARCHIVO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2589" y="204537"/>
            <a:ext cx="5654843" cy="646095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🖥 Reglas para nombres de archivo en MS-DOS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MS-DOS utiliza el sistema 8.3, que significa: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Máximo 8 caracteres para el nombre.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Máximo 3 caracteres para la extensión (separados por un punto).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Ejemplo válido: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AGENDA.TXT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>
                <a:solidFill>
                  <a:srgbClr val="464646"/>
                </a:solidFill>
                <a:latin typeface="Consolas"/>
              </a:rPr>
              <a:t>⚠️ Restricciones importantes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No se permiten espacios, comas ni caracteres especiales como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Los nombres no distinguen entre mayúsculas y minúsculas.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Los nombres reservados como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PRN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COM1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, etc., no pueden usarse ni como archivo ni como carpeta.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200">
                <a:solidFill>
                  <a:srgbClr val="FFFFFF"/>
                </a:solidFill>
              </a:rPr>
              <a:t>🧱 BLOQUE 5: NOMBRE Y EXTENSIÓN DE ARCHIVO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7283" y="445168"/>
            <a:ext cx="5256676" cy="596766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nombres válidos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TEXTO.TXT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RESUMEN.DOC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ARCH2025.LOG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AUTOEXEC.BAT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>
                <a:solidFill>
                  <a:srgbClr val="464646"/>
                </a:solidFill>
              </a:rPr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Escribe el siguiente comando: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INFORME2025.TXT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Escribe: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Este archivo contiene resultados.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Pulsa </a:t>
            </a:r>
            <a:r>
              <a:rPr lang="es-E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Ctrl+Z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 y luego </a:t>
            </a:r>
            <a:r>
              <a:rPr lang="es-ES" sz="2000" dirty="0" err="1">
                <a:solidFill>
                  <a:srgbClr val="464646"/>
                </a:solidFill>
                <a:latin typeface="Consolas"/>
              </a:rPr>
              <a:t>Enter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solidFill>
                  <a:srgbClr val="464646"/>
                </a:solidFill>
                <a:latin typeface="Consolas"/>
              </a:rPr>
              <a:t>Comprueba su existencia con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200">
                <a:solidFill>
                  <a:srgbClr val="FFFFFF"/>
                </a:solidFill>
              </a:rPr>
              <a:t>🧱 BLOQUE 5: NOMBRE Y EXTENSIÓN DE ARCHIVO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264695"/>
            <a:ext cx="5415548" cy="6184231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Intenta crear un archivo con el nombre 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AUX.TXT</a:t>
            </a:r>
            <a:r>
              <a:rPr lang="es-ES" sz="2000" dirty="0"/>
              <a:t> y observa el mensaje de error.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Renombra un archivo existente usando 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REN</a:t>
            </a:r>
            <a:r>
              <a:rPr lang="es-ES" sz="2000" dirty="0"/>
              <a:t> para cambiar solo el nombre o solo la extensión.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Experimenta con extensiones diferentes como 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.BAT</a:t>
            </a:r>
            <a:r>
              <a:rPr lang="es-ES" sz="2000" dirty="0"/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.LOG</a:t>
            </a:r>
            <a:r>
              <a:rPr lang="es-ES" sz="2000" dirty="0"/>
              <a:t>, </a:t>
            </a:r>
            <a:r>
              <a:rPr lang="es-E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.SYS </a:t>
            </a:r>
            <a:r>
              <a:rPr lang="es-ES" sz="2000" dirty="0"/>
              <a:t>y verifica su comportamiento si intentas ejecutarlos.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000">
                <a:solidFill>
                  <a:srgbClr val="FFFFFF"/>
                </a:solidFill>
              </a:rPr>
              <a:t>🧱 BLOQUE 6: ¿QUÉ ES UN DIRECTORIO?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8368" y="132347"/>
            <a:ext cx="5953345" cy="6715515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Definición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Un directorio (también llamado carpeta) es una estructura lógica que se utiliza para organizar archivos y otros subdirectorios en el sistema de archivos de MS-DOS.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3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📂 Estructura jerárquica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En MS-DOS, todos los directorios se organizan bajo una estructura en forma de árbol que comienza en el directorio raíz, representado por la barra invertida: </a:t>
            </a:r>
            <a:r>
              <a:rPr lang="es-E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s-ES" sz="19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Puedes tener múltiples niveles de subdirectorios, como: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C:\USUARIOS\MARIA\DOCS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El sistema permite crear, acceder y eliminar directorios mediante comandos específicos como </a:t>
            </a:r>
            <a:r>
              <a:rPr lang="es-E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s-ES" sz="1900" dirty="0"/>
              <a:t>,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</a:t>
            </a:r>
            <a:r>
              <a:rPr lang="es-ES" sz="1900" dirty="0"/>
              <a:t>, y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19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3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Conceptos clave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Directorio raíz: Es el nivel más alto del sistema (</a:t>
            </a:r>
            <a:r>
              <a:rPr lang="es-E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C:\</a:t>
            </a:r>
            <a:r>
              <a:rPr lang="es-ES" sz="1900" dirty="0"/>
              <a:t>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Subdirectorios: Son carpetas dentro de otras carpetas.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Ruta completa: Describe la ubicación exacta de un archivo o carpeta desde la raíz (por ejemplo, </a:t>
            </a:r>
            <a:r>
              <a:rPr lang="es-E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C:\TAREAS\MATEMATICAS\2025.TXT</a:t>
            </a:r>
            <a:r>
              <a:rPr lang="es-ES" sz="1900" dirty="0"/>
              <a:t>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000">
                <a:solidFill>
                  <a:srgbClr val="FFFFFF"/>
                </a:solidFill>
              </a:rPr>
              <a:t>🧱 BLOQUE 6: ¿QUÉ ES UN DIRECTORIO?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409074"/>
            <a:ext cx="5669336" cy="6340642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💡 Ejemplos de rutas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C:\DOCS\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A:\TRABAJOS\ENERO\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B:\REPORTE.DOC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Crea un nuevo directorio escribiendo: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MD PROYECTOS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Cambia al nuevo directorio: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CD PROYECTOS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Verifica la ruta con CD y observa que estás en C:\PROYECTOS.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Crea una estructura anidada en un solo paso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Sube un nivel en la jerarquía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Vuelve al directorio raíz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7: COMANDO DIR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156411"/>
            <a:ext cx="5886481" cy="652111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🖥 ¿Qué hace el comando DIR?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800" dirty="0"/>
              <a:t> se utiliza para listar el contenido de un directorio, mostrando archivos, carpetas, sus tamaños y fechas de última modificación. Es uno de los comandos más usados en MS-DOS para visualizar la estructura de archivos en un disco o subdirectorio.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[unidad:\ruta] [opciones]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Si se usa solo DIR, lista el contenido del directorio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Puedes especificar rutas y filtros con comodines.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>
              <a:solidFill>
                <a:srgbClr val="46464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7: COMANDO 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2432" y="132348"/>
            <a:ext cx="5929281" cy="6715514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4000" dirty="0"/>
              <a:t>📌 Parámetros útiles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/P</a:t>
            </a:r>
            <a:r>
              <a:rPr lang="es-ES" sz="2100" dirty="0"/>
              <a:t>: pausa la salida pantalla por pantalla.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/W</a:t>
            </a:r>
            <a:r>
              <a:rPr lang="es-ES" sz="2100" dirty="0"/>
              <a:t>: muestra en formato ancho (columnas).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</a:t>
            </a:r>
            <a:r>
              <a:rPr lang="es-ES" sz="2100" dirty="0"/>
              <a:t>: filtra archivos por atributos (ocultos, de sistema, etc.).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</a:t>
            </a:r>
            <a:r>
              <a:rPr lang="es-ES" sz="2100" dirty="0"/>
              <a:t>: ordena la lista (por nombre, tamaño, fecha, etc.).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MORE</a:t>
            </a:r>
            <a:r>
              <a:rPr lang="es-ES" sz="2100" dirty="0"/>
              <a:t>: similar a </a:t>
            </a:r>
            <a:r>
              <a:rPr lang="es-E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/P</a:t>
            </a:r>
            <a:r>
              <a:rPr lang="es-ES" sz="2100" dirty="0"/>
              <a:t>, muestra resultados por bloques.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endParaRPr lang="es-ES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900" dirty="0"/>
              <a:t> → Lista todos los archivos y subdirectorios del directorio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C:\DOCS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" sz="1900" dirty="0"/>
              <a:t>→ Muestra los archivos dentro del directorio </a:t>
            </a:r>
            <a:r>
              <a:rPr lang="es-E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DOCS</a:t>
            </a:r>
            <a:r>
              <a:rPr lang="es-ES" sz="19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*.TXT </a:t>
            </a:r>
            <a:r>
              <a:rPr lang="es-ES" sz="1900" dirty="0"/>
              <a:t>→ Muestra solo archivos con extensión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.TXT</a:t>
            </a:r>
            <a:r>
              <a:rPr lang="es-ES" sz="19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/P</a:t>
            </a:r>
            <a:r>
              <a:rPr lang="es-ES" sz="1900" dirty="0"/>
              <a:t> → Muestra los archivos página por página (útil cuando hay muchos archivos).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/W</a:t>
            </a:r>
            <a:r>
              <a:rPr lang="es-ES" sz="1900" dirty="0"/>
              <a:t> → Muestra los archivos en formato ancho (varias columnas).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7: COMANDO 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4463" y="276726"/>
            <a:ext cx="5739063" cy="64489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Cambia al directorio raíz: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CD \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Lista el contenido con: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/P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Luego muestra solo los archivos .BAT: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*.BAT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Lista todos los archivos ocultos de un directorio: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DIR /A:H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Ordena archivos por fecha de modificación (más recientes primero):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/O-D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Usa </a:t>
            </a: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C:\DOS | MORE </a:t>
            </a:r>
            <a:r>
              <a:rPr lang="es-ES" sz="1700" dirty="0"/>
              <a:t>para examinar carpetas grandes sin que la salida se desplace rápidamente.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8: COMANDO CD / CHDIR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339048"/>
            <a:ext cx="5580654" cy="620559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s-ES" sz="1800" dirty="0"/>
              <a:t> (o su forma larga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CHDIR</a:t>
            </a:r>
            <a:r>
              <a:rPr lang="es-ES" sz="1800" dirty="0"/>
              <a:t>) sirve para cambiar el directorio actual en el que estás trabajando dentro del sistema de archivos de MS-DOS. También permite verificar en qué directorio te encuentras.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[unidad:\ruta]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CD..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\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Sin parámetros, muestra el directorio actual.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Con una ruta, cambia al directorio indicado.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.. 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sube un nivel en la jerarquía.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\ 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vuelve al directorio raíz.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8: COMANDO CD / CHDIR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287676"/>
            <a:ext cx="5498461" cy="632888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 \DOCUMENTOS </a:t>
            </a:r>
            <a:r>
              <a:rPr lang="es-ES" sz="1800" dirty="0"/>
              <a:t>→ Cambia al subdirectorio DOCUMENTOS desde cualquier lugar.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 .. </a:t>
            </a:r>
            <a:r>
              <a:rPr lang="es-ES" sz="1800" dirty="0"/>
              <a:t>→ Sube un nivel en la estructura de directorios.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s-ES" sz="1800" dirty="0"/>
              <a:t> → Muestra el directorio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\USUARIOS\MARIA </a:t>
            </a:r>
            <a:r>
              <a:rPr lang="es-ES" sz="1800" dirty="0"/>
              <a:t>→ Accede directamente a un subdirectorio específico desde la raíz.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Notas adicionales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Se puede usar tanto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s-ES" sz="1800" dirty="0"/>
              <a:t> como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CHDIR</a:t>
            </a:r>
            <a:r>
              <a:rPr lang="es-ES" sz="1800" dirty="0"/>
              <a:t>, son equivalentes.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No se puede cambiar al directorio si no existe. MS-DOS mostrará el error: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"Directorio no válido"</a:t>
            </a:r>
            <a:r>
              <a:rPr lang="es-ES" sz="1800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8: COMANDO CD / CHDIR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215758"/>
            <a:ext cx="5549831" cy="639052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Asegúrate de estar en el directorio raíz: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 \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 nuevo directorio si no existe: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MD PRUEBA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Cambia al nuevo directorio: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PRUEBA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Verifica tu ubicación con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s-ES" sz="1800" dirty="0"/>
              <a:t>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Navega profundizando entre varios niveles.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Usa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.. </a:t>
            </a:r>
            <a:r>
              <a:rPr lang="es-ES" sz="1800" dirty="0"/>
              <a:t>varias veces seguidas para volver a la raíz desde un directorio profundo.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Intenta acceder a un directorio inexistente (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INVENTADO</a:t>
            </a:r>
            <a:r>
              <a:rPr lang="es-ES" sz="1800" dirty="0"/>
              <a:t>) y analiza el error mostrado.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9: COMANDO MD / MKDIR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6361" y="154112"/>
            <a:ext cx="5712430" cy="6554913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MD</a:t>
            </a:r>
            <a:r>
              <a:rPr lang="es-ES" sz="1800" dirty="0"/>
              <a:t> (o su forma extendida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s-ES" sz="1800" dirty="0"/>
              <a:t>) se utiliza para crear nuevos directorios en la estructura del sistema de archivos. Estos directorios pueden estar en la ubicación actual o en cualquier ruta válida del disco.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30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[unidad:\ruta\</a:t>
            </a:r>
            <a:r>
              <a:rPr lang="es-ES" sz="18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nombre_directorio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 [unidad:\ruta\</a:t>
            </a:r>
            <a:r>
              <a:rPr lang="es-ES" sz="18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nombre_directorio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Ambas formas son equivalentes (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</a:t>
            </a:r>
            <a:r>
              <a:rPr lang="es-ES" sz="1800" dirty="0"/>
              <a:t> es la forma abreviada de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s-ES" sz="1800" dirty="0"/>
              <a:t>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DATOS </a:t>
            </a:r>
            <a:r>
              <a:rPr lang="es-ES" sz="1800" dirty="0"/>
              <a:t>→ Crea un directorio llamado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s-ES" sz="1800" dirty="0"/>
              <a:t> en el directorio actual.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C:\PROYECTOS\ENERO </a:t>
            </a:r>
            <a:r>
              <a:rPr lang="es-ES" sz="1800" dirty="0"/>
              <a:t>→ Crea el subdirectorio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ENERO</a:t>
            </a:r>
            <a:r>
              <a:rPr lang="es-ES" sz="1800" dirty="0"/>
              <a:t> dentro de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C:\PROYECTOS</a:t>
            </a:r>
            <a:r>
              <a:rPr lang="es-ES" sz="1800" dirty="0"/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 TEMP </a:t>
            </a:r>
            <a:r>
              <a:rPr lang="es-ES" sz="1800" dirty="0"/>
              <a:t>→ Crea una carpeta llamada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es-ES" sz="1800" dirty="0"/>
              <a:t> en la ubicación actual.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9: COMANDO MD / MKDIR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573" y="135083"/>
            <a:ext cx="5694218" cy="6556662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Reglas importantes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nombre del nuevo directorio debe seguir las reglas de nomenclatura de MS-DOS (máx. 8 caracteres, sin espacios ni símbolos especiales).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Si la ruta contiene varios niveles y no existen, se debe crear cada uno por separado (MS-DOS no crea rutas anidadas automáticamente).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Cambia al directorio raíz: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 \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 nuevo directorio: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INFORMES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Verifica su creación con: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Accede a él con: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INFORMES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9: COMANDO MD / MKDIR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488374"/>
            <a:ext cx="5415548" cy="5707154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una estructura jerárquica paso a paso: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la carpeta ESCUELA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Entra en la carpeta ESCUELA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la carpeta TAREAS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Entra en la carpeta TAREAS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la carpeta ABRIL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Intenta crear un directorio con un nombre inválido (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MD CON</a:t>
            </a:r>
            <a:r>
              <a:rPr lang="es-ES" sz="1800" dirty="0"/>
              <a:t>) y analiza el error.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Compara la creación de subdirectorios usando rutas completas vs. comandos separados.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200">
                <a:solidFill>
                  <a:srgbClr val="FFFFFF"/>
                </a:solidFill>
              </a:rPr>
              <a:t>🧱 BLOQUE 10: COMODINES EN MS-DOS (* y 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309" y="114299"/>
            <a:ext cx="5600700" cy="663979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son los comodines?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/>
              <a:t>Los comodines en MS-DOS son símbolos especiales que permiten realizar operaciones con múltiples archivos al mismo tiempo, sin tener que escribir cada nombre completo.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🔣 Tipos de comodines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 (asterisco)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: representa cualquier cantidad de caracteres (incluyendo ninguno).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 (signo de interrogación)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: representa un solo carácter.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200">
                <a:solidFill>
                  <a:srgbClr val="FFFFFF"/>
                </a:solidFill>
              </a:rPr>
              <a:t>🧱 BLOQUE 10: COMODINES EN MS-DOS (* y ?)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2745" y="207818"/>
            <a:ext cx="5714999" cy="650470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*.TXT </a:t>
            </a:r>
            <a:r>
              <a:rPr lang="es-ES" sz="1800" dirty="0">
                <a:solidFill>
                  <a:srgbClr val="464646"/>
                </a:solidFill>
              </a:rPr>
              <a:t>→ Muestra todos los archivos con extensión .TXT, sin importar el nombre.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 REPOR?.DOC </a:t>
            </a:r>
            <a:r>
              <a:rPr lang="es-ES" sz="1800" dirty="0">
                <a:solidFill>
                  <a:srgbClr val="464646"/>
                </a:solidFill>
              </a:rPr>
              <a:t>→ Elimina archivos como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REPOR1.DOC</a:t>
            </a:r>
            <a:r>
              <a:rPr lang="es-ES" sz="1800" dirty="0">
                <a:solidFill>
                  <a:srgbClr val="464646"/>
                </a:solidFill>
              </a:rPr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REPORA.DOC</a:t>
            </a:r>
            <a:r>
              <a:rPr lang="es-ES" sz="1800" dirty="0">
                <a:solidFill>
                  <a:srgbClr val="464646"/>
                </a:solidFill>
              </a:rPr>
              <a:t>, pero no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REPORTES.DOC</a:t>
            </a:r>
            <a:r>
              <a:rPr lang="es-ES" sz="1800" dirty="0">
                <a:solidFill>
                  <a:srgbClr val="464646"/>
                </a:solidFill>
              </a:rPr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*.BAT C:\RESPALDO </a:t>
            </a:r>
            <a:r>
              <a:rPr lang="es-ES" sz="1800" dirty="0">
                <a:solidFill>
                  <a:srgbClr val="464646"/>
                </a:solidFill>
              </a:rPr>
              <a:t>→ Copia todos los archivos .BAT al directorio RESPALDO.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A*.EXE </a:t>
            </a:r>
            <a:r>
              <a:rPr lang="es-ES" sz="1800" dirty="0">
                <a:solidFill>
                  <a:srgbClr val="464646"/>
                </a:solidFill>
              </a:rPr>
              <a:t>→ Lista los archivos cuyo nombre empieza con "A" y terminan en .EXE.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4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Aplicaciones comunes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Buscar archivos por tipo o por nombre parcial.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Realizar operaciones masivas (eliminar, copiar, renombrar).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Automatizar tareas repetitivas con scripts.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3200">
                <a:solidFill>
                  <a:srgbClr val="FFFFFF"/>
                </a:solidFill>
              </a:rPr>
              <a:t>🧱 BLOQUE 10: COMODINES EN MS-DOS (* y ?)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1" y="103909"/>
            <a:ext cx="5798126" cy="6639791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3000" dirty="0"/>
              <a:t>🧪 Ejercicios guiados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nsolas"/>
              </a:rPr>
              <a:t>Crea tres archivos: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PRUEBA1.TXT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PRUEBA2.TXT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PRUEBA3.TXT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nsolas"/>
              </a:rPr>
              <a:t>(Pulsa </a:t>
            </a:r>
            <a:r>
              <a:rPr lang="es-ES" sz="19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Ctrl+Z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s-ES" sz="1900" dirty="0" err="1">
                <a:solidFill>
                  <a:srgbClr val="464646"/>
                </a:solidFill>
                <a:latin typeface="Consolas"/>
              </a:rPr>
              <a:t>Enter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 para guardar cada uno)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Lista todos los archivos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.TXT</a:t>
            </a:r>
            <a:r>
              <a:rPr lang="es-ES" sz="1900" dirty="0"/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*.TXT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/>
              <a:t>Elimina los archivos que empiecen con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PRUEBA</a:t>
            </a:r>
            <a:r>
              <a:rPr lang="es-ES" sz="1900" dirty="0"/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 PRUEBA?.TXT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9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3000" dirty="0">
                <a:solidFill>
                  <a:srgbClr val="464646"/>
                </a:solidFill>
              </a:rPr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nsolas"/>
              </a:rPr>
              <a:t>Crea archivos con diferentes nombres (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T1.DOC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T2.DOC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T3.DOC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) y elimina solo los que terminen en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2.DOC 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usando caracteres comodín.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nsolas"/>
              </a:rPr>
              <a:t>Experimenta con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 para mostrar todos los archivos en un directorio, sin importar nombre ni extensión.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900" dirty="0">
                <a:solidFill>
                  <a:srgbClr val="464646"/>
                </a:solidFill>
                <a:latin typeface="Consolas"/>
              </a:rPr>
              <a:t>Copia todos los archivos que empiecen por E y terminen en </a:t>
            </a:r>
            <a:r>
              <a:rPr lang="es-E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.BAT</a:t>
            </a:r>
            <a:r>
              <a:rPr lang="es-ES" sz="1900" dirty="0">
                <a:solidFill>
                  <a:srgbClr val="464646"/>
                </a:solidFill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 dirty="0">
                <a:solidFill>
                  <a:srgbClr val="FFFFFF"/>
                </a:solidFill>
              </a:rPr>
              <a:t>🧱 BLOQUE 11: COMANDO 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618" y="145473"/>
            <a:ext cx="5808518" cy="6608617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s-ES" sz="1800" dirty="0"/>
              <a:t> se utiliza para copiar archivos de un lugar a otro en el sistema de archivos de MS-DOS. También puede usarse para combinar archivos de texto o crear nuevos archivos a partir de contenido escrito directamente.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origen destino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CARTA.TXT D:\DOCS </a:t>
            </a:r>
            <a:r>
              <a:rPr lang="es-ES" sz="1800" dirty="0"/>
              <a:t>→ Copia el archivo CARTA.TXT al directorio D:\DOCS.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*.DOC A:\RESPALDO </a:t>
            </a:r>
            <a:r>
              <a:rPr lang="es-ES" sz="1800" dirty="0"/>
              <a:t>→ Copia todos los archivos .DOC a un disquete en la unidad 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ARCH1.TXT + ARCH2.TXT COMBINADO.TXT </a:t>
            </a:r>
            <a:r>
              <a:rPr lang="es-ES" sz="1800" dirty="0"/>
              <a:t>→ Une el contenido de dos archivos en uno solo.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NOTA.T</a:t>
            </a:r>
            <a:r>
              <a:rPr lang="es-ES" sz="1800" dirty="0"/>
              <a:t>XT → Crea un archivo desde la línea de comandos (usado para entrada manual de texto).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11: COMANDO COPY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Notas importantes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Si el archivo de destino ya existe, MS-DOS preguntará si deseas sobrescribirlo.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Puede usarse para combinar archivos de texto, pero no se recomienda combinar archivos binarios (como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.EXE</a:t>
            </a:r>
            <a:r>
              <a:rPr lang="es-ES" sz="1800" dirty="0"/>
              <a:t>).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Crea un archivo de prueba: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COPY CON TEXTO1.TXT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Hola mundo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7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Ctrl+Z</a:t>
            </a: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s-ES" sz="17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</a:t>
            </a: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Copia ese archivo a una carpeta nueva: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COPIAS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TEXTO1.TXT COPIAS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Comprueba con 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DIR COPIAS </a:t>
            </a:r>
            <a:r>
              <a:rPr lang="es-ES" sz="1700" dirty="0"/>
              <a:t>que la copia se realizó.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11: COMANDO COPY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5429980" cy="5546047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Combina dos archivos de texto y observa el resultado: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COPY TEXTO1.TXT + TEXTO2.TXT TODO.TXT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Copia todos los archivos .BAT del directorio raíz al disquete: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COPY C:\*.BAT A:\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Intenta usar COPY con archivos que no existen y analiza el mensaje de error.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12: COMANDO DEL / ERASE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8" y="176646"/>
            <a:ext cx="6040606" cy="654627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DEL (o su forma alternativa ERASE) se usa para eliminar archivos del disco. Una vez borrados, los archivos no pueden recuperarse desde MS-DOS (no hay papelera de reciclaje).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DEL [unidad:\ruta\</a:t>
            </a:r>
            <a:r>
              <a:rPr lang="es-ES" sz="1800" dirty="0" err="1"/>
              <a:t>nombre_archivo</a:t>
            </a:r>
            <a:r>
              <a:rPr lang="es-ES" sz="1800" dirty="0"/>
              <a:t>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ERASE [unidad:\ruta\</a:t>
            </a:r>
            <a:r>
              <a:rPr lang="es-ES" sz="1800" dirty="0" err="1"/>
              <a:t>nombre_archivo</a:t>
            </a:r>
            <a:r>
              <a:rPr lang="es-ES" sz="1800" dirty="0"/>
              <a:t>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NOTA.TXT </a:t>
            </a:r>
            <a:r>
              <a:rPr lang="es-ES" sz="1800" dirty="0"/>
              <a:t>→ Elimina el archivo NOTA.TXT del directorio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C:\DOCS\*.DOC </a:t>
            </a:r>
            <a:r>
              <a:rPr lang="es-ES" sz="1800" dirty="0"/>
              <a:t>→ Elimina todos los archivos .DOC dentro de la carpeta DOCS.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*.* </a:t>
            </a:r>
            <a:r>
              <a:rPr lang="es-ES" sz="1800" dirty="0"/>
              <a:t>→ Elimina todos los archivos del directorio actual (⚠️ peligroso).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12: COMANDO DEL / ERASE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223284"/>
            <a:ext cx="5627366" cy="65283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💬 Importante: 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solidFill>
                  <a:srgbClr val="464646"/>
                </a:solidFill>
                <a:latin typeface="Consolas"/>
              </a:rPr>
              <a:t>MS-DOS preguntará “¿Está seguro? </a:t>
            </a:r>
            <a:r>
              <a:rPr lang="es-ES" sz="1700" dirty="0"/>
              <a:t>(S/N)” si el comando puede causar una eliminación masiva, salvo que se use desde un archivo </a:t>
            </a:r>
            <a:r>
              <a:rPr lang="es-ES" sz="1700" dirty="0" err="1"/>
              <a:t>batch</a:t>
            </a:r>
            <a:r>
              <a:rPr lang="es-ES" sz="1700" dirty="0"/>
              <a:t> o con confirmación automática.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Precauciones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  <a:r>
              <a:rPr lang="es-ES" sz="1700" dirty="0"/>
              <a:t> no elimina directorios, solo archivos.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700" dirty="0"/>
              <a:t>Usa comodines con mucho cuidado.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Si se está en el directorio raíz, DEL </a:t>
            </a: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*.*</a:t>
            </a:r>
            <a:r>
              <a:rPr lang="es-ES" sz="1700" dirty="0"/>
              <a:t> puede eliminar archivos críticos del sistema.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Crea un archivo temporal: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COPY CON TEMP.TXT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700" dirty="0"/>
              <a:t>Archivo temporal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700" dirty="0"/>
              <a:t>(</a:t>
            </a:r>
            <a:r>
              <a:rPr lang="es-ES" sz="1700" dirty="0" err="1"/>
              <a:t>Ctrl+Z</a:t>
            </a:r>
            <a:r>
              <a:rPr lang="es-ES" sz="1700" dirty="0"/>
              <a:t> + </a:t>
            </a:r>
            <a:r>
              <a:rPr lang="es-ES" sz="1700" dirty="0" err="1"/>
              <a:t>Enter</a:t>
            </a:r>
            <a:r>
              <a:rPr lang="es-ES" sz="1700" dirty="0"/>
              <a:t>)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Elimina ese archivo: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DEL TEMP.TXT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Verifica con DIR que ya no aparece.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12: COMANDO DEL / ERASE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411" y="308344"/>
            <a:ext cx="5606101" cy="627320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Elimina todos los archivos .TMP de una carpeta específica: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 C:\TRABAJO\*.TMP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Intenta usar ERASE en lugar de DEL y comprueba que funciona igual: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ERASE EJEMPLO.TXT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000" dirty="0"/>
              <a:t>Prueba 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  <a:r>
              <a:rPr lang="es-ES" sz="2000" dirty="0"/>
              <a:t> con el parámetro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/P </a:t>
            </a:r>
            <a:r>
              <a:rPr lang="es-ES" sz="2000" dirty="0"/>
              <a:t>(si disponible en tu versión) para que solicite confirmación por archivo (en versiones posteriores a MS-DOS 6.0).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13: COMANDO REN / RENAME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033" y="170121"/>
            <a:ext cx="5837274" cy="651775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REN</a:t>
            </a:r>
            <a:r>
              <a:rPr lang="es-ES" sz="1800" dirty="0"/>
              <a:t> (o su forma extendida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RENAME</a:t>
            </a:r>
            <a:r>
              <a:rPr lang="es-ES" sz="1800" dirty="0"/>
              <a:t>) permite cambiar el nombre de un archivo o varios archivos en MS-DOS. No cambia la ubicación del archivo, solo su nombre o extensión.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archivo_actual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nuevo_nombre</a:t>
            </a: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archivo_actual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nuevo_nombre</a:t>
            </a: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No puede cambiar de directorio; solo funciona en el directorio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Admite comodines para renombrar múltiples archivos a la vez.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13: COMANDO REN / RENAME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2298" y="106326"/>
            <a:ext cx="5794744" cy="661345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30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 NOTA.TXT INFORME.TXT 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→ Cambia el nombre del archivo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NOTA.TXT 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por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INFORME.TXT</a:t>
            </a: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 *.TXT *.DOC 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→ Cambia la extensión de todos los archivos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.TXT 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.DOC</a:t>
            </a: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RENAME REPORTE.BAK REPORTE2025.BAK </a:t>
            </a:r>
            <a:r>
              <a:rPr lang="es-ES" sz="1800" dirty="0"/>
              <a:t>→ Cambia el nombre del archivo conservando su extensión.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3000" dirty="0"/>
              <a:t>📌 Consideraciones importantes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El comando 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REN</a:t>
            </a:r>
            <a:r>
              <a:rPr lang="es-ES" sz="1800" dirty="0"/>
              <a:t> no puede cambiar la ubicación del archivo (no sirve para mover).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nuevo nombre debe respetar las reglas 8.3 de MS-DOS (ahora en Windows no hace falta)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Si el archivo de destino ya existe, puede sobrescribirse sin advertencia (depende del entorno).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13: COMANDO REN / RENAME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399" y="138224"/>
            <a:ext cx="5773479" cy="660281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Crea un archivo: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COPY CON PLAN.TXT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700" dirty="0"/>
              <a:t>Texto de planificación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700" dirty="0"/>
              <a:t>(</a:t>
            </a:r>
            <a:r>
              <a:rPr lang="es-ES" sz="1700" dirty="0" err="1"/>
              <a:t>Ctrl+Z</a:t>
            </a:r>
            <a:r>
              <a:rPr lang="es-ES" sz="1700" dirty="0"/>
              <a:t> + </a:t>
            </a:r>
            <a:r>
              <a:rPr lang="es-ES" sz="1700" dirty="0" err="1"/>
              <a:t>Enter</a:t>
            </a:r>
            <a:r>
              <a:rPr lang="es-ES" sz="1700" dirty="0"/>
              <a:t>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Renómbralo: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REN PLAN.TXT PROYECTO.TXT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700" dirty="0"/>
              <a:t>Comprueba el cambio con DIR.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Cambia todos los archivos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.LOG</a:t>
            </a:r>
            <a:r>
              <a:rPr lang="es-ES" sz="1800" dirty="0"/>
              <a:t> por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.BAK</a:t>
            </a:r>
            <a:r>
              <a:rPr lang="es-ES" sz="1800" dirty="0"/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 *.LOG *.BAK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Intenta renombrar un archivo con un nombre reservado (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 ARCHIVO.TXT CON.TXT</a:t>
            </a:r>
            <a:r>
              <a:rPr lang="es-ES" sz="1800" dirty="0"/>
              <a:t>) y observa el error.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Usa REN en combinación con comodines para renombrar múltiples archivos con prefijos similares: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 TAREA?.TXT T2025?.TXT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14: COMANDO RD / RMDIR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116958"/>
            <a:ext cx="5936567" cy="660281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1800" dirty="0"/>
              <a:t> (o su forma extendida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s-ES" sz="1800" dirty="0"/>
              <a:t>) se utiliza para eliminar directorios vacíos del sistema de archivos. Si el directorio contiene archivos o subdirectorios, no podrá ser eliminado directamente.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1800" dirty="0"/>
              <a:t>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[unidad:\ruta\directorio]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s-ES" sz="1800" dirty="0"/>
              <a:t>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[unidad:\ruta\directorio]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 PRUEBAS </a:t>
            </a:r>
            <a:r>
              <a:rPr lang="es-ES" sz="1800" dirty="0"/>
              <a:t>→ Elimina el directorio PRUEBAS del directorio actual (si está vacío).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RMDIR C:\USUARIOS\MARIA\TEMP </a:t>
            </a:r>
            <a:r>
              <a:rPr lang="es-ES" sz="1800" dirty="0"/>
              <a:t>→ Elimina la carpeta TEMP si no contiene archivos ni subcarpetas.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 dirty="0">
                <a:solidFill>
                  <a:srgbClr val="FFFFFF"/>
                </a:solidFill>
              </a:rPr>
              <a:t>🧱 BLOQUE 14: COMANDO RD / RMDIR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135" y="106326"/>
            <a:ext cx="5816009" cy="6634716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⚠️ Reglas importantes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El directorio debe estar completamente vacío antes de eliminarlo.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No puedes estar dentro del directorio que estás tratando de eliminar.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Si necesitas borrar un directorio con contenido, primero debes eliminar manualmente todos sus archivos con DEL.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 nuevo directorio y entra en él: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MD BORRARME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CD BORRARME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Regresa al nivel anterior: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Elimina el directorio: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 BORRARME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Confirma con DIR que ya no existe.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14: COMANDO RD / RMDIR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2297" y="127592"/>
            <a:ext cx="5730949" cy="6570920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 directorio con un archivo dentro y luego intenta borrarlo: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MD TEST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COPY CON TEST\ARCHIVO.TXT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(</a:t>
            </a:r>
            <a:r>
              <a:rPr lang="es-ES" sz="1800" dirty="0" err="1"/>
              <a:t>Ctrl+Z</a:t>
            </a:r>
            <a:r>
              <a:rPr lang="es-ES" sz="1800" dirty="0"/>
              <a:t> + </a:t>
            </a:r>
            <a:r>
              <a:rPr lang="es-ES" sz="1800" dirty="0" err="1"/>
              <a:t>Enter</a:t>
            </a:r>
            <a:r>
              <a:rPr lang="es-ES" sz="1800" dirty="0"/>
              <a:t>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RD TEST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→ Debería dar un error porque no está vacío.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Elimina todos los archivos dentro con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 TEST\*.*</a:t>
            </a:r>
            <a:r>
              <a:rPr lang="es-ES" sz="1800" dirty="0"/>
              <a:t> y luego elimina el directorio con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 TEST</a:t>
            </a:r>
            <a:r>
              <a:rPr lang="es-ES" sz="1800" dirty="0"/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Prueba usar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" sz="1800" dirty="0"/>
              <a:t> sobre un directorio inexistente y analiza el mensaje de error.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15: COMANDO 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033" y="85060"/>
            <a:ext cx="5805376" cy="66772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s-ES" sz="1800" dirty="0"/>
              <a:t> se utiliza para mostrar el contenido de un archivo de texto directamente en pantalla. Es útil para leer archivos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TXT</a:t>
            </a:r>
            <a:r>
              <a:rPr lang="es-ES" sz="1800" dirty="0"/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.BAT </a:t>
            </a:r>
            <a:r>
              <a:rPr lang="es-ES" sz="1800" dirty="0"/>
              <a:t>o cualquier archivo que contenga texto legible.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s-E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nombre_archivo</a:t>
            </a:r>
            <a:endParaRPr lang="es-E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NOTA.TXT </a:t>
            </a:r>
            <a:r>
              <a:rPr lang="es-ES" sz="1800" dirty="0"/>
              <a:t>→ Muestra el contenido del archivo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18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AUTOEXEC.BAT </a:t>
            </a:r>
            <a:r>
              <a:rPr lang="es-ES" sz="1800" dirty="0"/>
              <a:t>→ Muestra el contenido del archivo de inicio del sistema.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COMBINADO.TXT | MORE </a:t>
            </a:r>
            <a:r>
              <a:rPr lang="es-ES" sz="1800" dirty="0"/>
              <a:t>→ Muestra el contenido en pantalla por partes, útil para archivos largos.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15: COMANDO TYPE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1665" y="170121"/>
            <a:ext cx="5794744" cy="6581553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📌 Consideraciones</a:t>
            </a:r>
            <a:endParaRPr lang="es-ES" sz="17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No se puede utilizar para archivos binarios (como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.EXE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.COM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), ya que mostrará símbolos sin sentido.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No permite editar el contenido, solo visualizarlo.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Se puede combinar con el comando MORE para facilitar la lectura.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 archivo de texto: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CON EJEMPLO.TXT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Línea 1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Línea 2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Línea 3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(</a:t>
            </a:r>
            <a:r>
              <a:rPr lang="es-ES" sz="1800" dirty="0" err="1"/>
              <a:t>Ctrl+Z</a:t>
            </a:r>
            <a:r>
              <a:rPr lang="es-ES" sz="1800" dirty="0"/>
              <a:t> + </a:t>
            </a:r>
            <a:r>
              <a:rPr lang="es-ES" sz="1800" dirty="0" err="1"/>
              <a:t>Enter</a:t>
            </a:r>
            <a:r>
              <a:rPr lang="es-ES" sz="1800" dirty="0"/>
              <a:t>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Visualiza su contenido con: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EJEMPLO.TXT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500">
                <a:solidFill>
                  <a:srgbClr val="FFFFFF"/>
                </a:solidFill>
              </a:rPr>
              <a:t>🧱 BLOQUE 15: COMANDO TYPE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106326"/>
            <a:ext cx="5752214" cy="6592186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Crea un archivo más largo y visualízalo usando paginación: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TYPE GRANDE.TXT | MORE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Prueba visualizar un archivo de sistema como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CONFIG.SYS</a:t>
            </a:r>
            <a:r>
              <a:rPr lang="es-ES" sz="1800" dirty="0"/>
              <a:t> 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AUTOEXEC.BAT</a:t>
            </a:r>
            <a:r>
              <a:rPr lang="es-ES" sz="1800" dirty="0"/>
              <a:t>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Intenta usar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s-ES" sz="1800" dirty="0"/>
              <a:t> con un archivo que no existe (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NOEXISTE.TXT</a:t>
            </a:r>
            <a:r>
              <a:rPr lang="es-ES" sz="1800" dirty="0"/>
              <a:t>) y analiza el mensaje de error.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200">
                <a:solidFill>
                  <a:srgbClr val="FFFFFF"/>
                </a:solidFill>
              </a:rPr>
              <a:t>🧱 BLOQUE 16: COMANDO 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033" y="148856"/>
            <a:ext cx="5784111" cy="658155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es-ES" sz="1800" dirty="0"/>
              <a:t> se utiliza para mover archivos o directorios de una ubicación a otra. También se puede usar para renombrar archivos o carpetas.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A diferencia de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s-ES" sz="1800" dirty="0"/>
              <a:t>, que duplica los archivos,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es-ES" sz="1800" dirty="0"/>
              <a:t> los traslada físicamente a una nueva ubicación, eliminándolos del origen.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origen destino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origen</a:t>
            </a:r>
            <a:r>
              <a:rPr lang="es-ES" sz="1800" dirty="0"/>
              <a:t>: nombre del archivo o carpeta a mover.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destino</a:t>
            </a:r>
            <a:r>
              <a:rPr lang="es-ES" sz="1800" dirty="0"/>
              <a:t>: nueva ubicación (puede incluir un nuevo nombre).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200">
                <a:solidFill>
                  <a:srgbClr val="FFFFFF"/>
                </a:solidFill>
              </a:rPr>
              <a:t>🧱 BLOQUE 16: COMANDO MOVE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2929" y="138224"/>
            <a:ext cx="5730949" cy="661345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MOVE TEXTO.TXT D:\DOCS </a:t>
            </a:r>
            <a:r>
              <a:rPr lang="es-ES" sz="1800" dirty="0"/>
              <a:t>→ Mueve el archivo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TEXTO.TXT </a:t>
            </a:r>
            <a:r>
              <a:rPr lang="es-ES" sz="1800" dirty="0"/>
              <a:t>a la carpeta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DOCS</a:t>
            </a:r>
            <a:r>
              <a:rPr lang="es-ES" sz="1800" dirty="0"/>
              <a:t> en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D:</a:t>
            </a: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MOVE *.DOC A:\ </a:t>
            </a:r>
            <a:r>
              <a:rPr lang="es-ES" sz="1800" dirty="0"/>
              <a:t>→ Mueve todos los archivos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.DOC </a:t>
            </a:r>
            <a:r>
              <a:rPr lang="es-ES" sz="1800" dirty="0"/>
              <a:t>a la unidad 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s-ES" sz="1800" dirty="0"/>
              <a:t> (disquete).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MOVE INFORME.TXT INFORME2025.TXT </a:t>
            </a:r>
            <a:r>
              <a:rPr lang="es-ES" sz="1800" dirty="0"/>
              <a:t>→ Renombra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INFORME.TXT </a:t>
            </a:r>
            <a:r>
              <a:rPr lang="es-ES" sz="1800" dirty="0"/>
              <a:t>como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INFORME2025.TXT</a:t>
            </a: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Consideraciones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Si el archivo o carpeta de destino ya existe, puede 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sobrescribirse sin advertencia.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Puede mover directorios completos en versiones avanzadas de MS-DOS o con extensiones como MS-DOS 6.x.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Funciona tanto para archivos como para carpetas, dependiendo de la versión del sistema.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200">
                <a:solidFill>
                  <a:srgbClr val="FFFFFF"/>
                </a:solidFill>
              </a:rPr>
              <a:t>🧱 BLOQUE 16: COMANDO MOVE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138224"/>
            <a:ext cx="5894037" cy="660281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>
                <a:latin typeface="Consolas"/>
              </a:rPr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Crea un archivo de prueba: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COPY CON PRUEBA.TXT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Este archivo será movido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(</a:t>
            </a:r>
            <a:r>
              <a:rPr lang="es-ES" sz="1800" dirty="0" err="1">
                <a:latin typeface="Consolas"/>
              </a:rPr>
              <a:t>Ctrl+Z</a:t>
            </a:r>
            <a:r>
              <a:rPr lang="es-ES" sz="1800" dirty="0">
                <a:latin typeface="Consolas"/>
              </a:rPr>
              <a:t> + </a:t>
            </a:r>
            <a:r>
              <a:rPr lang="es-ES" sz="1800" dirty="0" err="1">
                <a:latin typeface="Consolas"/>
              </a:rPr>
              <a:t>Enter</a:t>
            </a:r>
            <a:r>
              <a:rPr lang="es-ES" sz="1800" dirty="0">
                <a:latin typeface="Consolas"/>
              </a:rPr>
              <a:t>)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nsolas"/>
              </a:rPr>
              <a:t>Crea una carpeta:</a:t>
            </a: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MD DESTINO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Mueve el archivo a esa carpeta: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PRUEBA.TXT DESTINO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Verifica que el archivo ya no está en el directorio original y sí en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DESTINO</a:t>
            </a:r>
            <a:r>
              <a:rPr lang="es-ES" sz="18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6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Mueve todos los archivos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.BAT 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a una nueva carpeta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COPIASBAT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COPIASBAT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*.BAT COPIASBAT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Renombra una carpeta: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DATOS DATOS2025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Intenta mover un archivo a una unidad que no existe y analiza el error.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1900">
                <a:solidFill>
                  <a:srgbClr val="FFFFFF"/>
                </a:solidFill>
              </a:rPr>
              <a:t>🧱 BLOQUE 17: COMANDO CHKDSK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135" y="85060"/>
            <a:ext cx="5816009" cy="66772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CHKDSK</a:t>
            </a:r>
            <a:r>
              <a:rPr lang="es-ES" sz="1800" dirty="0"/>
              <a:t> (</a:t>
            </a:r>
            <a:r>
              <a:rPr lang="es-ES" sz="1800" dirty="0" err="1"/>
              <a:t>Check</a:t>
            </a:r>
            <a:r>
              <a:rPr lang="es-ES" sz="1800" dirty="0"/>
              <a:t> Disk) se utiliza para verificar el estado de un disco y mostrar información sobre su estructura, espacio disponible y posibles errores en archivos o sectores defectuosos.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 [unidad:] [opciones]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 C: </a:t>
            </a:r>
            <a:r>
              <a:rPr lang="es-ES" sz="1800" dirty="0"/>
              <a:t>→ Verifica el estado del disco en la unidad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C:</a:t>
            </a:r>
            <a:r>
              <a:rPr lang="es-ES" sz="1800" dirty="0"/>
              <a:t> y muestra estadísticas generales.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 A</a:t>
            </a:r>
            <a:r>
              <a:rPr lang="es-ES" sz="1800" dirty="0"/>
              <a:t>: → Revisa un disquete insertado en la unidad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s-ES" sz="18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 /F </a:t>
            </a:r>
            <a:r>
              <a:rPr lang="es-ES" sz="1800" dirty="0"/>
              <a:t>(en versiones posteriores) → Repara automáticamente errores en el disco.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1900">
                <a:solidFill>
                  <a:srgbClr val="FFFFFF"/>
                </a:solidFill>
              </a:rPr>
              <a:t>🧱 BLOQUE 17: COMANDO CHKDSK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1033" y="106326"/>
            <a:ext cx="5784111" cy="660281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¿Qué información muestra?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Cantidad total de espacio en disco.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Espacio usado y disponible.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Tamaño del clúster (unidad de asignación).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Archivos ocultos o del sistema.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Número de directorios y archivos.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⚠️ En MS-DOS, CHKDSK puede tardar en completarse en discos grandes.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Inserta un disquete o selecciona una unidad válida.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Escribe: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 C: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Observa el resumen que muestra MS-DOS: número de archivos, espacio usado y libre.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1900">
                <a:solidFill>
                  <a:srgbClr val="FFFFFF"/>
                </a:solidFill>
              </a:rPr>
              <a:t>🧱 BLOQUE 17: COMANDO CHKDSK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116958"/>
            <a:ext cx="5851507" cy="6581554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Prueba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CHKDSK</a:t>
            </a:r>
            <a:r>
              <a:rPr lang="es-ES" sz="1800" dirty="0"/>
              <a:t> en otra unidad (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D:</a:t>
            </a:r>
            <a:r>
              <a:rPr lang="es-ES" sz="1800" dirty="0"/>
              <a:t> 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  <a:r>
              <a:rPr lang="es-ES" sz="1800" dirty="0"/>
              <a:t>) y compara los resultados.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Intenta con un disco con archivos ocultos o protegidos del sistema y analiza si los cuenta.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Si estás en una versión que lo permite, ejecuta: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CHKDSK /F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y comprueba si se corrigen errores de forma automática (requiere MS-DOS 5.0+ o Windows 9x en modo DOS).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1900">
                <a:solidFill>
                  <a:srgbClr val="FFFFFF"/>
                </a:solidFill>
              </a:rPr>
              <a:t>🧱 BLOQUE 18: COMANDO 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107" y="116957"/>
            <a:ext cx="6040607" cy="66453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</a:t>
            </a: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s-ES" sz="1800" dirty="0"/>
              <a:t> se utiliza para formatear una unidad de almacenamiento, como un disquete o disco duro. El formateo borra toda la información del medio y prepara el sistema de archivos para almacenar nuevos datos.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⚠️ Peligroso: El uso de 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s-ES" sz="1800" dirty="0"/>
              <a:t> elimina permanentemente todo el contenido del disco seleccionado.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unidad: [opciones]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A: 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→ Formatea el disquete en la unidad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C: 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→ ⚠️ Formatea el disco duro principal (generalmente no se hace desde dentro del mismo sistema operativo).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A: /S 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→ Formatea el disquete y copia los archivos del sistema, haciéndolo 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booteable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1900">
                <a:solidFill>
                  <a:srgbClr val="FFFFFF"/>
                </a:solidFill>
              </a:rPr>
              <a:t>🧱 BLOQUE 18: COMANDO FORMAT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135" y="106326"/>
            <a:ext cx="5847907" cy="663471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Opciones comunes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/S</a:t>
            </a:r>
            <a:r>
              <a:rPr lang="es-ES" sz="1800" dirty="0"/>
              <a:t>: Copia los archivos del sistema (sólo versiones de MS-DOS 5.0+).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/Q</a:t>
            </a:r>
            <a:r>
              <a:rPr lang="es-ES" sz="1800" dirty="0"/>
              <a:t>: Formateo rápido (disponible en versiones avanzadas).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/U</a:t>
            </a:r>
            <a:r>
              <a:rPr lang="es-ES" sz="1800" dirty="0"/>
              <a:t>: Formateo irreversible (no recuperable).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Inserta un disquete en la unidad 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 (si estás usando emulación real o virtual).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Escribe: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Responde “S” cuando el sistema pregunte si deseas continuar.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Espera a que termine el proceso y observa el resumen final (número de sectores, clústeres, etc.).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1900">
                <a:solidFill>
                  <a:srgbClr val="FFFFFF"/>
                </a:solidFill>
              </a:rPr>
              <a:t>🧱 BLOQUE 18: COMANDO FORMAT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4828" y="244550"/>
            <a:ext cx="5709684" cy="6262576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Formatea un disquete con archivos del sistema para hacerlo </a:t>
            </a:r>
            <a:r>
              <a:rPr lang="es-ES" sz="1800" dirty="0" err="1">
                <a:solidFill>
                  <a:srgbClr val="464646"/>
                </a:solidFill>
                <a:latin typeface="Consolas"/>
              </a:rPr>
              <a:t>booteable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A: /S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Intenta formatear una unidad inexistente (</a:t>
            </a:r>
            <a:r>
              <a:rPr lang="es-ES" sz="18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 J:</a:t>
            </a:r>
            <a:r>
              <a:rPr lang="es-ES" sz="1800" dirty="0">
                <a:solidFill>
                  <a:srgbClr val="464646"/>
                </a:solidFill>
                <a:latin typeface="Consolas"/>
              </a:rPr>
              <a:t>) y analiza el error.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Prueba realizar un formateo desde una ruta secundaria (por ejemplo, usando un disquete de arranque).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200">
                <a:solidFill>
                  <a:srgbClr val="FFFFFF"/>
                </a:solidFill>
              </a:rPr>
              <a:t>🧱 BLOQUE 19: COMANDO 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🖥 ¿Qué hace?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El comando LABEL permite crear, cambiar o eliminar la etiqueta de volumen (nombre) de una unidad de almacenamiento como un disco duro o disquete. Esta etiqueta es opcional y sirve para identificar visualmente el disco.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4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LABEL [unidad:] [</a:t>
            </a:r>
            <a:r>
              <a:rPr lang="es-ES" sz="1800" dirty="0" err="1"/>
              <a:t>nombre_etiqueta</a:t>
            </a:r>
            <a:r>
              <a:rPr lang="es-ES" sz="1800" dirty="0"/>
              <a:t>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Si se ejecuta sin parámetros, el sistema solicitará el nuevo nombre de etiqueta.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1800" dirty="0"/>
              <a:t>Si ya hay una etiqueta existente, se puede cambiar o eliminar escribiendo una nueva o dejando el campo vacío.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200">
                <a:solidFill>
                  <a:srgbClr val="FFFFFF"/>
                </a:solidFill>
              </a:rPr>
              <a:t>🧱 BLOQUE 19: COMANDO LABEL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67" y="223284"/>
            <a:ext cx="5805377" cy="642206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💡 Ejemplos de uso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LABEL → Pide el nombre de la nueva etiqueta para la unidad actual.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LABEL A: RESPALDO → Asigna el nombre RESPALDO al disquete en la unidad A.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LABEL C: → Solicita un nuevo nombre para la unidad C.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📌 Consideraciones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La etiqueta puede tener hasta 11 caracteres (sin espacios).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No puede contener caracteres especiales: *, ?, /, \, :, |, &lt;, &gt;, ".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Es útil para identificar discos cuando se trabaja con múltiples unidades o medios extraíbles.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" sz="2200">
                <a:solidFill>
                  <a:srgbClr val="FFFFFF"/>
                </a:solidFill>
              </a:rPr>
              <a:t>🧱 BLOQUE 19: COMANDO LABEL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563" y="202019"/>
            <a:ext cx="5645888" cy="644332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Escribe: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LABEL A: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Introduce como etiqueta el texto: TRABAJOS2025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/>
              <a:t>Comprueba con DIR que aparece la etiqueta junto a la unidad (Volumen en unidad A es TRABAJOS2025).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18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lang="es-ES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Cambia la etiqueta de un disco por una diferente: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LABEL A: DATOS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Borra la etiqueta dejando el campo en blanco cuando se te solicite un nuevo nombre.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800" dirty="0">
                <a:solidFill>
                  <a:srgbClr val="464646"/>
                </a:solidFill>
                <a:latin typeface="Consolas"/>
              </a:rPr>
              <a:t>Asigna etiquetas distintas a varios disquetes y compara cómo aparecen al usar DIR.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  <a:defRPr sz="3600">
                <a:solidFill>
                  <a:srgbClr val="323232"/>
                </a:solidFill>
              </a:defRPr>
            </a:pPr>
            <a:r>
              <a:rPr lang="es-ES" sz="2700">
                <a:solidFill>
                  <a:srgbClr val="FFFFFF"/>
                </a:solidFill>
              </a:rPr>
              <a:t>🧱 BLOQUE 20: RESUMEN GENERAL Y EJERCICIOS INTEGRADORES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Durante este recorrido por los comandos básicos de MS-DOS, has trabajado con: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📂 Gestión de archivos: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COPY, DEL, TYPE, REN, MOVE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📁 Gestión de directorios: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CD, MD, RD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⌚ Sistema y configuración: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DATE, TIME, LABEL, FORMAT, CHKDSK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🔍 Visualización de contenido: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DIR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Uso de comodines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(*, ?)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💻 Creación manual de archivos: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COPY CON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🧹 Mantenimiento de disco: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FORMAT, CHKDSK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Identificación de unidades: 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1600" dirty="0"/>
              <a:t>LABEL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2D92F-63C0-44F5-EB44-C7F0048B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4CD5-B56A-EBC3-3292-2838B4DA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t>🧱 BLOQUE 20: RESUMEN GENERAL Y EJERCICIOS INTEGRADORES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1442-C26C-C90F-99E0-1EB7F8D39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40" y="1417638"/>
            <a:ext cx="8314660" cy="5165724"/>
          </a:xfrm>
        </p:spPr>
        <p:txBody>
          <a:bodyPr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000" dirty="0"/>
              <a:t>1. Crea una estructura completa de carpetas y archivos: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En tu carpeta de usuario, crea una carpeta llamada </a:t>
            </a:r>
            <a:r>
              <a:rPr lang="es-E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lang="es-ES" sz="28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Posiciónate dentro de la carpeta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lang="es-ES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una subcarpeta llamada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s-ES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otra subcarpeta llamada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textos</a:t>
            </a:r>
            <a:r>
              <a:rPr lang="es-ES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un archivo de texto vacío llamado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lista.txt</a:t>
            </a:r>
            <a:r>
              <a:rPr lang="es-ES" dirty="0"/>
              <a:t> en la subcarpeta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s-ES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otro archivo de texto vacío llamado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dirty="0"/>
              <a:t> en la subcarpeta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textos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7329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9A75-213A-ECF4-7354-BE22F49A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E6F4-4087-C95F-22D3-1F5F0669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19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rPr dirty="0"/>
              <a:t>🧱 BLOQUE 20: RESUMEN GENERAL Y EJERCICIOS INTEGRADORES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90FD-8A8A-15D7-A87F-23CD1AC69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262190"/>
            <a:ext cx="8467344" cy="5595810"/>
          </a:xfrm>
        </p:spPr>
        <p:txBody>
          <a:bodyPr>
            <a:normAutofit fontScale="47500" lnSpcReduction="2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900" dirty="0"/>
              <a:t>2. Usa comandos para mover, copiar, y eliminar: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100" dirty="0"/>
              <a:t>Posicionado en el directorio proyecto, haz una copia del archivo </a:t>
            </a:r>
            <a:r>
              <a:rPr lang="es-ES" sz="5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5100" dirty="0"/>
              <a:t> en el directorio proyecto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100" dirty="0"/>
              <a:t>Elimina el fichero </a:t>
            </a:r>
            <a:r>
              <a:rPr lang="es-ES" sz="5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5100" dirty="0"/>
              <a:t> del subdirectorio </a:t>
            </a:r>
            <a:r>
              <a:rPr lang="es-ES" sz="5100" dirty="0">
                <a:latin typeface="Courier New" panose="02070309020205020404" pitchFamily="49" charset="0"/>
                <a:cs typeface="Courier New" panose="02070309020205020404" pitchFamily="49" charset="0"/>
              </a:rPr>
              <a:t>textos</a:t>
            </a:r>
            <a:r>
              <a:rPr lang="es-ES" sz="5100" dirty="0"/>
              <a:t> Renombra el fichero </a:t>
            </a:r>
            <a:r>
              <a:rPr lang="es-ES" sz="5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5100" dirty="0"/>
              <a:t> con el nombre </a:t>
            </a:r>
            <a:r>
              <a:rPr lang="es-ES" sz="5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r>
              <a:rPr lang="es-ES" sz="5100" dirty="0"/>
              <a:t> Mueve el fichero </a:t>
            </a:r>
            <a:r>
              <a:rPr lang="es-ES" sz="5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r>
              <a:rPr lang="es-ES" sz="5100" dirty="0"/>
              <a:t> a la subcarpeta </a:t>
            </a:r>
            <a:r>
              <a:rPr lang="es-ES" sz="5100" dirty="0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3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dirty="0"/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900" dirty="0"/>
              <a:t>3. Usa TYPE y DIR para revisar tu trabajo: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100" dirty="0"/>
              <a:t>Muestra en la consola el contenido del fichero </a:t>
            </a:r>
            <a:r>
              <a:rPr lang="es-ES" sz="5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r>
              <a:rPr lang="es-ES" sz="51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100" dirty="0"/>
              <a:t>Lista el contenido de un directorio y todos sus subdirectorios de forma recursiva</a:t>
            </a:r>
            <a:endParaRPr sz="5100" dirty="0"/>
          </a:p>
        </p:txBody>
      </p:sp>
    </p:spTree>
    <p:extLst>
      <p:ext uri="{BB962C8B-B14F-4D97-AF65-F5344CB8AC3E}">
        <p14:creationId xmlns:p14="http://schemas.microsoft.com/office/powerpoint/2010/main" val="27410104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t>🧱 BLOQUE 20: RESUMEN GENERAL Y EJERCICIOS INTEGRADORES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40" y="1417638"/>
            <a:ext cx="8314660" cy="5165724"/>
          </a:xfrm>
        </p:spPr>
        <p:txBody>
          <a:bodyPr>
            <a:normAutofit fontScale="92500" lnSpcReduction="2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000" dirty="0"/>
              <a:t>1. Crea una estructura completa de carpetas y archivos: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2800" dirty="0"/>
              <a:t>En tu carpeta de usuario, crea una carpeta llamada </a:t>
            </a:r>
            <a:r>
              <a:rPr lang="es-E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lang="es-ES" sz="2800" dirty="0"/>
              <a:t> (MD PROYECTO)</a:t>
            </a:r>
            <a:endParaRPr lang="es-ES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Posiciónate dentro de la carpeta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proyecto</a:t>
            </a:r>
            <a:r>
              <a:rPr lang="es-ES" dirty="0"/>
              <a:t> (</a:t>
            </a:r>
            <a:r>
              <a:rPr dirty="0"/>
              <a:t>CD PROYECTO</a:t>
            </a:r>
            <a:r>
              <a:rPr lang="es-ES" dirty="0"/>
              <a:t>)</a:t>
            </a:r>
            <a:endParaRPr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una subcarpeta llamada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s-ES" dirty="0"/>
              <a:t> (</a:t>
            </a:r>
            <a:r>
              <a:rPr dirty="0"/>
              <a:t>MD DATOS</a:t>
            </a:r>
            <a:r>
              <a:rPr lang="es-ES" dirty="0"/>
              <a:t>)</a:t>
            </a:r>
            <a:endParaRPr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otra subcarpeta llamada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textos</a:t>
            </a:r>
            <a:r>
              <a:rPr lang="es-ES" dirty="0"/>
              <a:t> (</a:t>
            </a:r>
            <a:r>
              <a:rPr dirty="0"/>
              <a:t>MD TEXTOS</a:t>
            </a:r>
            <a:r>
              <a:rPr lang="es-ES" dirty="0"/>
              <a:t>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un archivo de texto vacío llamado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lista.txt</a:t>
            </a:r>
            <a:r>
              <a:rPr lang="es-ES" dirty="0"/>
              <a:t> en la subcarpeta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s-ES" dirty="0"/>
              <a:t> (</a:t>
            </a:r>
            <a:r>
              <a:rPr dirty="0"/>
              <a:t>COPY CON DATOS\LISTA.TXT</a:t>
            </a:r>
            <a:r>
              <a:rPr lang="es-ES" dirty="0"/>
              <a:t> (</a:t>
            </a:r>
            <a:r>
              <a:rPr lang="es-ES" dirty="0" err="1"/>
              <a:t>Ctrl+Z</a:t>
            </a:r>
            <a:r>
              <a:rPr lang="es-ES" dirty="0"/>
              <a:t> + </a:t>
            </a:r>
            <a:r>
              <a:rPr lang="es-ES" dirty="0" err="1"/>
              <a:t>Enter</a:t>
            </a:r>
            <a:r>
              <a:rPr lang="es-ES" dirty="0"/>
              <a:t>))</a:t>
            </a:r>
            <a:endParaRPr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Crea otro archivo de texto vacío llamado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dirty="0"/>
              <a:t> en la subcarpeta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textos </a:t>
            </a:r>
            <a:r>
              <a:rPr lang="es-ES" dirty="0"/>
              <a:t>(</a:t>
            </a:r>
            <a:r>
              <a:rPr dirty="0"/>
              <a:t>COPY CON TEXTOS\NOTA.TXT</a:t>
            </a:r>
            <a:r>
              <a:rPr lang="es-ES" dirty="0"/>
              <a:t> </a:t>
            </a:r>
            <a:r>
              <a:rPr dirty="0"/>
              <a:t>(</a:t>
            </a:r>
            <a:r>
              <a:rPr dirty="0" err="1"/>
              <a:t>Ctrl+Z</a:t>
            </a:r>
            <a:r>
              <a:rPr dirty="0"/>
              <a:t> + Enter)</a:t>
            </a:r>
            <a:r>
              <a:rPr lang="es-E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19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rPr dirty="0"/>
              <a:t>🧱 BLOQUE 20: RESUMEN GENERAL Y EJERCICIOS INTEGRADORES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344168"/>
            <a:ext cx="8467344" cy="5312664"/>
          </a:xfrm>
        </p:spPr>
        <p:txBody>
          <a:bodyPr>
            <a:normAutofit fontScale="55000" lnSpcReduction="2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100" dirty="0"/>
              <a:t>2. Usa comandos para mover, copiar, y eliminar: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400" dirty="0"/>
              <a:t>Posicionado en el directorio proyecto, haz una copia del archivo </a:t>
            </a:r>
            <a:r>
              <a:rPr lang="es-E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3400" dirty="0"/>
              <a:t> en el directorio proyecto (COPY TEXTOS\NOTA.TXT)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400" dirty="0"/>
              <a:t>Elimina el fichero </a:t>
            </a:r>
            <a:r>
              <a:rPr lang="es-E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3400" dirty="0"/>
              <a:t> del subdirectorio </a:t>
            </a:r>
            <a:r>
              <a:rPr lang="es-E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textos</a:t>
            </a:r>
            <a:r>
              <a:rPr lang="es-ES" sz="3400" dirty="0"/>
              <a:t> (DEL TEXTOS\NOTA.TXT)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400" dirty="0"/>
              <a:t>Renombra el fichero </a:t>
            </a:r>
            <a:r>
              <a:rPr lang="es-E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nota.txt</a:t>
            </a:r>
            <a:r>
              <a:rPr lang="es-ES" sz="3400" dirty="0"/>
              <a:t> con el nombre </a:t>
            </a:r>
            <a:r>
              <a:rPr lang="es-E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r>
              <a:rPr lang="es-ES" sz="3400" dirty="0"/>
              <a:t> (REN NOTA.TXT ARCHIVO.TXT)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400" dirty="0"/>
              <a:t>Mueve el fichero </a:t>
            </a:r>
            <a:r>
              <a:rPr lang="es-E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r>
              <a:rPr lang="es-ES" sz="3400" dirty="0"/>
              <a:t> a la subcarpeta </a:t>
            </a:r>
            <a:r>
              <a:rPr lang="es-E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s-ES" sz="3400" dirty="0"/>
              <a:t> (MOVE ARCHIVO.TXT DATOS)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dirty="0"/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5100" dirty="0"/>
              <a:t>3. Usa TYPE y DIR para revisar tu trabajo: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400" dirty="0"/>
              <a:t>Muestra en la consola el contenido del fichero </a:t>
            </a:r>
            <a:r>
              <a:rPr lang="es-E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r>
              <a:rPr lang="es-ES" sz="3400" dirty="0"/>
              <a:t> (</a:t>
            </a:r>
            <a:r>
              <a:rPr sz="3400" dirty="0"/>
              <a:t>TYPE DATOS\ARCHIVO.TXT</a:t>
            </a:r>
            <a:r>
              <a:rPr lang="es-ES" sz="3400" dirty="0"/>
              <a:t>)</a:t>
            </a:r>
            <a:endParaRPr sz="34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sz="3400" dirty="0"/>
              <a:t>Lista el contenido de un directorio y todos sus subdirectorios de forma recursiva (</a:t>
            </a:r>
            <a:r>
              <a:rPr sz="3400" dirty="0"/>
              <a:t>DIR /S</a:t>
            </a:r>
            <a:r>
              <a:rPr lang="es-ES" sz="3400" dirty="0"/>
              <a:t>)</a:t>
            </a:r>
            <a:endParaRPr sz="3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t>🧱 BLOQUE 21: ADAPTACIÓN ACTUAL – DE MS-DOS A CMD Y POWERSHELL EN WINDOWS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0472"/>
            <a:ext cx="8229600" cy="5092890"/>
          </a:xfrm>
        </p:spPr>
        <p:txBody>
          <a:bodyPr>
            <a:normAutofit fontScale="40000" lnSpcReduction="20000"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sz="7000" dirty="0"/>
              <a:t>🖥 Contexto actual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sz="5000" dirty="0" err="1"/>
              <a:t>Aunque</a:t>
            </a:r>
            <a:r>
              <a:rPr sz="5000" dirty="0"/>
              <a:t> MS-DOS </a:t>
            </a:r>
            <a:r>
              <a:rPr sz="5000" dirty="0" err="1"/>
              <a:t>ya</a:t>
            </a:r>
            <a:r>
              <a:rPr sz="5000" dirty="0"/>
              <a:t> no es un </a:t>
            </a:r>
            <a:r>
              <a:rPr sz="5000" dirty="0" err="1"/>
              <a:t>sistema</a:t>
            </a:r>
            <a:r>
              <a:rPr sz="5000" dirty="0"/>
              <a:t> </a:t>
            </a:r>
            <a:r>
              <a:rPr sz="5000" dirty="0" err="1"/>
              <a:t>operativo</a:t>
            </a:r>
            <a:r>
              <a:rPr sz="5000" dirty="0"/>
              <a:t> </a:t>
            </a:r>
            <a:r>
              <a:rPr sz="5000" dirty="0" err="1"/>
              <a:t>en</a:t>
            </a:r>
            <a:r>
              <a:rPr sz="5000" dirty="0"/>
              <a:t> </a:t>
            </a:r>
            <a:r>
              <a:rPr sz="5000" dirty="0" err="1"/>
              <a:t>uso</a:t>
            </a:r>
            <a:r>
              <a:rPr sz="5000" dirty="0"/>
              <a:t> </a:t>
            </a:r>
            <a:r>
              <a:rPr sz="5000" dirty="0" err="1"/>
              <a:t>como</a:t>
            </a:r>
            <a:r>
              <a:rPr sz="5000" dirty="0"/>
              <a:t> </a:t>
            </a:r>
            <a:r>
              <a:rPr sz="5000" dirty="0" err="1"/>
              <a:t>tal</a:t>
            </a:r>
            <a:r>
              <a:rPr sz="5000" dirty="0"/>
              <a:t>, </a:t>
            </a:r>
            <a:r>
              <a:rPr sz="5000" dirty="0" err="1"/>
              <a:t>su</a:t>
            </a:r>
            <a:r>
              <a:rPr sz="5000" dirty="0"/>
              <a:t> </a:t>
            </a:r>
            <a:r>
              <a:rPr sz="5000" dirty="0" err="1"/>
              <a:t>legado</a:t>
            </a:r>
            <a:r>
              <a:rPr sz="5000" dirty="0"/>
              <a:t> </a:t>
            </a:r>
            <a:r>
              <a:rPr sz="5000" dirty="0" err="1"/>
              <a:t>persiste</a:t>
            </a:r>
            <a:r>
              <a:rPr sz="5000" dirty="0"/>
              <a:t> </a:t>
            </a:r>
            <a:r>
              <a:rPr sz="5000" dirty="0" err="1"/>
              <a:t>en</a:t>
            </a:r>
            <a:r>
              <a:rPr sz="5000" dirty="0"/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sz="5000" dirty="0"/>
              <a:t>CMD (Command Prompt): El "</a:t>
            </a:r>
            <a:r>
              <a:rPr sz="5000" dirty="0" err="1"/>
              <a:t>símbolo</a:t>
            </a:r>
            <a:r>
              <a:rPr sz="5000" dirty="0"/>
              <a:t> del </a:t>
            </a:r>
            <a:r>
              <a:rPr sz="5000" dirty="0" err="1"/>
              <a:t>sistema</a:t>
            </a:r>
            <a:r>
              <a:rPr sz="5000" dirty="0"/>
              <a:t>" actual </a:t>
            </a:r>
            <a:r>
              <a:rPr sz="5000" dirty="0" err="1"/>
              <a:t>en</a:t>
            </a:r>
            <a:r>
              <a:rPr sz="5000" dirty="0"/>
              <a:t> Windows, </a:t>
            </a:r>
            <a:r>
              <a:rPr sz="5000" dirty="0" err="1"/>
              <a:t>que</a:t>
            </a:r>
            <a:r>
              <a:rPr sz="5000" dirty="0"/>
              <a:t> </a:t>
            </a:r>
            <a:r>
              <a:rPr sz="5000" dirty="0" err="1"/>
              <a:t>conserva</a:t>
            </a:r>
            <a:r>
              <a:rPr sz="5000" dirty="0"/>
              <a:t> </a:t>
            </a:r>
            <a:r>
              <a:rPr sz="5000" dirty="0" err="1"/>
              <a:t>muchos</a:t>
            </a:r>
            <a:r>
              <a:rPr sz="5000" dirty="0"/>
              <a:t> </a:t>
            </a:r>
            <a:r>
              <a:rPr sz="5000" dirty="0" err="1"/>
              <a:t>comandos</a:t>
            </a:r>
            <a:r>
              <a:rPr sz="5000" dirty="0"/>
              <a:t> </a:t>
            </a:r>
            <a:r>
              <a:rPr sz="5000" dirty="0" err="1"/>
              <a:t>clásicos</a:t>
            </a:r>
            <a:r>
              <a:rPr sz="5000" dirty="0"/>
              <a:t> de MS-DOS.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sz="5000" dirty="0"/>
              <a:t>PowerShell: Terminal moderna de Windows con </a:t>
            </a:r>
            <a:r>
              <a:rPr sz="5000" dirty="0" err="1"/>
              <a:t>funcionalidades</a:t>
            </a:r>
            <a:r>
              <a:rPr sz="5000" dirty="0"/>
              <a:t> </a:t>
            </a:r>
            <a:r>
              <a:rPr sz="5000" dirty="0" err="1"/>
              <a:t>mucho</a:t>
            </a:r>
            <a:r>
              <a:rPr sz="5000" dirty="0"/>
              <a:t> </a:t>
            </a:r>
            <a:r>
              <a:rPr sz="5000" dirty="0" err="1"/>
              <a:t>más</a:t>
            </a:r>
            <a:r>
              <a:rPr sz="5000" dirty="0"/>
              <a:t> </a:t>
            </a:r>
            <a:r>
              <a:rPr sz="5000" dirty="0" err="1"/>
              <a:t>avanzadas</a:t>
            </a:r>
            <a:r>
              <a:rPr sz="5000" dirty="0"/>
              <a:t>, </a:t>
            </a:r>
            <a:r>
              <a:rPr sz="5000" dirty="0" err="1"/>
              <a:t>pero</a:t>
            </a:r>
            <a:r>
              <a:rPr sz="5000" dirty="0"/>
              <a:t> compatible con </a:t>
            </a:r>
            <a:r>
              <a:rPr sz="5000" dirty="0" err="1"/>
              <a:t>varios</a:t>
            </a:r>
            <a:r>
              <a:rPr sz="5000" dirty="0"/>
              <a:t> </a:t>
            </a:r>
            <a:r>
              <a:rPr sz="5000" dirty="0" err="1"/>
              <a:t>comandos</a:t>
            </a:r>
            <a:r>
              <a:rPr sz="5000" dirty="0"/>
              <a:t> </a:t>
            </a:r>
            <a:r>
              <a:rPr sz="5000" dirty="0" err="1"/>
              <a:t>tradicionales</a:t>
            </a:r>
            <a:r>
              <a:rPr sz="5000" dirty="0"/>
              <a:t>.</a:t>
            </a:r>
            <a:endParaRPr lang="es-ES" sz="50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sz="7000" dirty="0"/>
              <a:t>🧾 ¿</a:t>
            </a:r>
            <a:r>
              <a:rPr sz="7000" dirty="0" err="1"/>
              <a:t>Qué</a:t>
            </a:r>
            <a:r>
              <a:rPr sz="7000" dirty="0"/>
              <a:t> ha </a:t>
            </a:r>
            <a:r>
              <a:rPr sz="7000" dirty="0" err="1"/>
              <a:t>cambiado</a:t>
            </a:r>
            <a:r>
              <a:rPr sz="7000" dirty="0"/>
              <a:t>?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sz="5000" dirty="0" err="1"/>
              <a:t>Equivalencias</a:t>
            </a:r>
            <a:r>
              <a:rPr sz="5000" dirty="0"/>
              <a:t> </a:t>
            </a:r>
            <a:r>
              <a:rPr sz="5000" dirty="0" err="1"/>
              <a:t>prácticas</a:t>
            </a:r>
            <a:r>
              <a:rPr sz="5000" dirty="0"/>
              <a:t> de </a:t>
            </a:r>
            <a:r>
              <a:rPr sz="5000" dirty="0" err="1"/>
              <a:t>comandos</a:t>
            </a:r>
            <a:endParaRPr sz="5000" dirty="0"/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sz="5000" dirty="0" err="1"/>
              <a:t>Ejercicio</a:t>
            </a:r>
            <a:r>
              <a:rPr sz="5000" dirty="0"/>
              <a:t> </a:t>
            </a:r>
            <a:r>
              <a:rPr sz="5000" dirty="0" err="1"/>
              <a:t>guiado</a:t>
            </a:r>
            <a:r>
              <a:rPr sz="5000" dirty="0"/>
              <a:t> de </a:t>
            </a:r>
            <a:r>
              <a:rPr sz="5000" dirty="0" err="1"/>
              <a:t>comparación</a:t>
            </a:r>
            <a:endParaRPr sz="50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sz="5000" dirty="0"/>
              <a:t>Abre CMD y escribe: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sz="5000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sz="5000" dirty="0"/>
              <a:t>Luego </a:t>
            </a:r>
            <a:r>
              <a:rPr sz="5000" dirty="0" err="1"/>
              <a:t>abre</a:t>
            </a:r>
            <a:r>
              <a:rPr sz="5000" dirty="0"/>
              <a:t> PowerShell y escribe: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sz="5000" dirty="0">
                <a:latin typeface="Courier New" panose="02070309020205020404" pitchFamily="49" charset="0"/>
                <a:cs typeface="Courier New" panose="02070309020205020404" pitchFamily="49" charset="0"/>
              </a:rPr>
              <a:t>Get-</a:t>
            </a:r>
            <a:r>
              <a:rPr sz="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ChildItem</a:t>
            </a:r>
            <a:endParaRPr sz="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t>🧱 BLOQUE 21: ADAPTACIÓN ACTUAL – DE MS-DOS A CMD Y POWERSHELL EN WINDOWS 11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" dirty="0"/>
              <a:t>Prueba cambiar de directorio en ambos: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dirty="0"/>
              <a:t>CD \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dirty="0"/>
              <a:t>Set-Location \</a:t>
            </a:r>
          </a:p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dirty="0"/>
              <a:t>Aprende a </a:t>
            </a:r>
            <a:r>
              <a:rPr dirty="0" err="1"/>
              <a:t>traducir</a:t>
            </a:r>
            <a:r>
              <a:rPr dirty="0"/>
              <a:t> </a:t>
            </a:r>
            <a:r>
              <a:rPr dirty="0" err="1"/>
              <a:t>comandos</a:t>
            </a:r>
            <a:r>
              <a:rPr dirty="0"/>
              <a:t> DOS a PowerShell </a:t>
            </a:r>
            <a:r>
              <a:rPr dirty="0" err="1"/>
              <a:t>usando</a:t>
            </a:r>
            <a:r>
              <a:rPr dirty="0"/>
              <a:t> la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dirty="0"/>
              <a:t>[Get-Help </a:t>
            </a:r>
            <a:r>
              <a:rPr dirty="0" err="1"/>
              <a:t>en</a:t>
            </a:r>
            <a:r>
              <a:rPr dirty="0"/>
              <a:t> PowerShell] →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:</a:t>
            </a:r>
          </a:p>
          <a:p>
            <a:pPr marL="0" indent="0">
              <a:buNone/>
              <a:defRPr sz="2600">
                <a:solidFill>
                  <a:srgbClr val="464646"/>
                </a:solidFill>
              </a:defRPr>
            </a:pPr>
            <a:r>
              <a:rPr dirty="0"/>
              <a:t>Get-Help Copy-Item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23232"/>
                </a:solidFill>
              </a:defRPr>
            </a:pPr>
            <a:r>
              <a:rPr dirty="0"/>
              <a:t>Cierre y </a:t>
            </a:r>
            <a:r>
              <a:rPr dirty="0" err="1"/>
              <a:t>recordatorios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dirty="0"/>
              <a:t>Practica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seguro</a:t>
            </a:r>
            <a:r>
              <a:rPr dirty="0"/>
              <a:t> (</a:t>
            </a:r>
            <a:r>
              <a:rPr dirty="0" err="1"/>
              <a:t>máquina</a:t>
            </a:r>
            <a:r>
              <a:rPr dirty="0"/>
              <a:t> virtual o </a:t>
            </a:r>
            <a:r>
              <a:rPr dirty="0" err="1"/>
              <a:t>emulador</a:t>
            </a:r>
            <a:r>
              <a:rPr dirty="0"/>
              <a:t>).</a:t>
            </a: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dirty="0"/>
              <a:t>En Windows 11, </a:t>
            </a:r>
            <a:r>
              <a:rPr dirty="0" err="1"/>
              <a:t>prioriza</a:t>
            </a:r>
            <a:r>
              <a:rPr dirty="0"/>
              <a:t> PowerShell para </a:t>
            </a:r>
            <a:r>
              <a:rPr dirty="0" err="1"/>
              <a:t>automatización</a:t>
            </a:r>
            <a:r>
              <a:rPr dirty="0"/>
              <a:t> y CMD para </a:t>
            </a:r>
            <a:r>
              <a:rPr dirty="0" err="1"/>
              <a:t>compatibilidad</a:t>
            </a:r>
            <a:r>
              <a:rPr dirty="0"/>
              <a:t>.</a:t>
            </a: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dirty="0"/>
              <a:t>Traduce </a:t>
            </a: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 de MS‑DOS a PowerShell: Get-Help &lt;cmdlet&gt;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6252</Words>
  <Application>Microsoft Macintosh PowerPoint</Application>
  <PresentationFormat>Presentación en pantalla (4:3)</PresentationFormat>
  <Paragraphs>712</Paragraphs>
  <Slides>63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69" baseType="lpstr">
      <vt:lpstr>Aptos</vt:lpstr>
      <vt:lpstr>Arial</vt:lpstr>
      <vt:lpstr>Calibri</vt:lpstr>
      <vt:lpstr>Consolas</vt:lpstr>
      <vt:lpstr>Courier New</vt:lpstr>
      <vt:lpstr>Office Theme</vt:lpstr>
      <vt:lpstr>MS‑DOS Básico, CMD y PowerShell (Windows 11)</vt:lpstr>
      <vt:lpstr>INTRODUCCIÓN A MS-DOS</vt:lpstr>
      <vt:lpstr>INTRODUCCIÓN A MS-DOS (cont.)</vt:lpstr>
      <vt:lpstr>INTRODUCCIÓN A MS-DOS (cont.)</vt:lpstr>
      <vt:lpstr>🧱 BLOQUE 2: COMANDO DATE</vt:lpstr>
      <vt:lpstr>🧱 BLOQUE 2: COMANDO DATE (cont.)</vt:lpstr>
      <vt:lpstr>🧱 BLOQUE 3: COMANDO TIME</vt:lpstr>
      <vt:lpstr>🧱 BLOQUE 3: COMANDO TIME (cont.)</vt:lpstr>
      <vt:lpstr>🧱 BLOQUE 4: ¿QUÉ ES UN ARCHIVO?</vt:lpstr>
      <vt:lpstr>🧱 BLOQUE 4: ¿QUÉ ES UN ARCHIVO? (cont.)</vt:lpstr>
      <vt:lpstr>🧱 BLOQUE 4: ¿QUÉ ES UN ARCHIVO? (cont.)</vt:lpstr>
      <vt:lpstr>🧱 BLOQUE 5: NOMBRE Y EXTENSIÓN DE ARCHIVO</vt:lpstr>
      <vt:lpstr>🧱 BLOQUE 5: NOMBRE Y EXTENSIÓN DE ARCHIVO (cont.)</vt:lpstr>
      <vt:lpstr>🧱 BLOQUE 5: NOMBRE Y EXTENSIÓN DE ARCHIVO (cont.)</vt:lpstr>
      <vt:lpstr>🧱 BLOQUE 6: ¿QUÉ ES UN DIRECTORIO?</vt:lpstr>
      <vt:lpstr>🧱 BLOQUE 6: ¿QUÉ ES UN DIRECTORIO? (cont.)</vt:lpstr>
      <vt:lpstr>🧱 BLOQUE 7: COMANDO DIR</vt:lpstr>
      <vt:lpstr>🧱 BLOQUE 7: COMANDO DIR (cont.)</vt:lpstr>
      <vt:lpstr>🧱 BLOQUE 7: COMANDO DIR (cont.)</vt:lpstr>
      <vt:lpstr>🧱 BLOQUE 8: COMANDO CD / CHDIR</vt:lpstr>
      <vt:lpstr>🧱 BLOQUE 8: COMANDO CD / CHDIR (cont.)</vt:lpstr>
      <vt:lpstr>🧱 BLOQUE 8: COMANDO CD / CHDIR (cont.)</vt:lpstr>
      <vt:lpstr>🧱 BLOQUE 9: COMANDO MD / MKDIR</vt:lpstr>
      <vt:lpstr>🧱 BLOQUE 9: COMANDO MD / MKDIR (cont.)</vt:lpstr>
      <vt:lpstr>🧱 BLOQUE 9: COMANDO MD / MKDIR (cont.)</vt:lpstr>
      <vt:lpstr>🧱 BLOQUE 10: COMODINES EN MS-DOS (* y ?)</vt:lpstr>
      <vt:lpstr>🧱 BLOQUE 10: COMODINES EN MS-DOS (* y ?) (cont.)</vt:lpstr>
      <vt:lpstr>🧱 BLOQUE 10: COMODINES EN MS-DOS (* y ?) (cont.)</vt:lpstr>
      <vt:lpstr>🧱 BLOQUE 11: COMANDO COPY</vt:lpstr>
      <vt:lpstr>🧱 BLOQUE 11: COMANDO COPY (cont.)</vt:lpstr>
      <vt:lpstr>🧱 BLOQUE 11: COMANDO COPY (cont.)</vt:lpstr>
      <vt:lpstr>🧱 BLOQUE 12: COMANDO DEL / ERASE</vt:lpstr>
      <vt:lpstr>🧱 BLOQUE 12: COMANDO DEL / ERASE (cont.)</vt:lpstr>
      <vt:lpstr>🧱 BLOQUE 12: COMANDO DEL / ERASE (cont.)</vt:lpstr>
      <vt:lpstr>🧱 BLOQUE 13: COMANDO REN / RENAME</vt:lpstr>
      <vt:lpstr>🧱 BLOQUE 13: COMANDO REN / RENAME (cont.)</vt:lpstr>
      <vt:lpstr>🧱 BLOQUE 13: COMANDO REN / RENAME (cont.)</vt:lpstr>
      <vt:lpstr>🧱 BLOQUE 14: COMANDO RD / RMDIR</vt:lpstr>
      <vt:lpstr>🧱 BLOQUE 14: COMANDO RD / RMDIR (cont.)</vt:lpstr>
      <vt:lpstr>🧱 BLOQUE 14: COMANDO RD / RMDIR (cont.)</vt:lpstr>
      <vt:lpstr>🧱 BLOQUE 15: COMANDO TYPE</vt:lpstr>
      <vt:lpstr>🧱 BLOQUE 15: COMANDO TYPE (cont.)</vt:lpstr>
      <vt:lpstr>🧱 BLOQUE 15: COMANDO TYPE (cont.)</vt:lpstr>
      <vt:lpstr>🧱 BLOQUE 16: COMANDO MOVE</vt:lpstr>
      <vt:lpstr>🧱 BLOQUE 16: COMANDO MOVE (cont.)</vt:lpstr>
      <vt:lpstr>🧱 BLOQUE 16: COMANDO MOVE (cont.)</vt:lpstr>
      <vt:lpstr>🧱 BLOQUE 17: COMANDO CHKDSK</vt:lpstr>
      <vt:lpstr>🧱 BLOQUE 17: COMANDO CHKDSK (cont.)</vt:lpstr>
      <vt:lpstr>🧱 BLOQUE 17: COMANDO CHKDSK (cont.)</vt:lpstr>
      <vt:lpstr>🧱 BLOQUE 18: COMANDO FORMAT</vt:lpstr>
      <vt:lpstr>🧱 BLOQUE 18: COMANDO FORMAT (cont.)</vt:lpstr>
      <vt:lpstr>🧱 BLOQUE 18: COMANDO FORMAT (cont.)</vt:lpstr>
      <vt:lpstr>🧱 BLOQUE 19: COMANDO LABEL</vt:lpstr>
      <vt:lpstr>🧱 BLOQUE 19: COMANDO LABEL (cont.)</vt:lpstr>
      <vt:lpstr>🧱 BLOQUE 19: COMANDO LABEL (cont.)</vt:lpstr>
      <vt:lpstr>🧱 BLOQUE 20: RESUMEN GENERAL Y EJERCICIOS INTEGRADORES</vt:lpstr>
      <vt:lpstr>🧱 BLOQUE 20: RESUMEN GENERAL Y EJERCICIOS INTEGRADORES (cont.)</vt:lpstr>
      <vt:lpstr>🧱 BLOQUE 20: RESUMEN GENERAL Y EJERCICIOS INTEGRADORES (cont.)</vt:lpstr>
      <vt:lpstr>🧱 BLOQUE 20: RESUMEN GENERAL Y EJERCICIOS INTEGRADORES (cont.)</vt:lpstr>
      <vt:lpstr>🧱 BLOQUE 20: RESUMEN GENERAL Y EJERCICIOS INTEGRADORES (cont.)</vt:lpstr>
      <vt:lpstr>🧱 BLOQUE 21: ADAPTACIÓN ACTUAL – DE MS-DOS A CMD Y POWERSHELL EN WINDOWS 11</vt:lpstr>
      <vt:lpstr>🧱 BLOQUE 21: ADAPTACIÓN ACTUAL – DE MS-DOS A CMD Y POWERSHELL EN WINDOWS 11 (cont.)</vt:lpstr>
      <vt:lpstr>Cierre y recordatorios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Iñigo Aranburu Rego</cp:lastModifiedBy>
  <cp:revision>12</cp:revision>
  <dcterms:created xsi:type="dcterms:W3CDTF">2013-01-27T09:14:16Z</dcterms:created>
  <dcterms:modified xsi:type="dcterms:W3CDTF">2025-12-05T09:38:13Z</dcterms:modified>
  <cp:category/>
</cp:coreProperties>
</file>